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433" r:id="rId184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capability coverage (%)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Acquire</c:v>
                </c:pt>
                <c:pt idx="1">
                  <c:v>Prepare</c:v>
                </c:pt>
                <c:pt idx="2">
                  <c:v>Analyse</c:v>
                </c:pt>
                <c:pt idx="3">
                  <c:v>Visualise</c:v>
                </c:pt>
                <c:pt idx="4">
                  <c:v>Automate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85</c:v>
                </c:pt>
                <c:pt idx="2">
                  <c:v>92</c:v>
                </c:pt>
                <c:pt idx="3">
                  <c:v>80</c:v>
                </c:pt>
                <c:pt idx="4">
                  <c:v>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savings balance (SGD '000)</c:v>
                </c:pt>
              </c:strCache>
            </c:strRef>
          </c:tx>
          <c:spPr>
            <a:solidFill>
              <a:srgbClr val="0FA98A"/>
            </a:solidFill>
            <a:ln>
              <a:solidFill>
                <a:srgbClr val="0FA98A"/>
              </a:solidFill>
            </a:ln>
          </c:spPr>
          <c:cat>
            <c:strRef>
              <c:f>Sheet1!$A$2:$A$5</c:f>
              <c:strCache>
                <c:ptCount val="4"/>
                <c:pt idx="0">
                  <c:v>Year 5</c:v>
                </c:pt>
                <c:pt idx="1">
                  <c:v>Year 10</c:v>
                </c:pt>
                <c:pt idx="2">
                  <c:v>Year 20</c:v>
                </c:pt>
                <c:pt idx="3">
                  <c:v>Year 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155</c:v>
                </c:pt>
                <c:pt idx="2">
                  <c:v>420</c:v>
                </c:pt>
                <c:pt idx="3">
                  <c:v>815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test cases by class</c:v>
                </c:pt>
              </c:strCache>
            </c:strRef>
          </c:tx>
          <c:spPr>
            <a:solidFill>
              <a:srgbClr val="7C3AED"/>
            </a:solidFill>
            <a:ln>
              <a:solidFill>
                <a:srgbClr val="7C3AED"/>
              </a:solidFill>
            </a:ln>
          </c:spPr>
          <c:cat>
            <c:strRef>
              <c:f>Sheet1!$A$2:$A$6</c:f>
              <c:strCache>
                <c:ptCount val="5"/>
                <c:pt idx="0">
                  <c:v>Typical</c:v>
                </c:pt>
                <c:pt idx="1">
                  <c:v>Below boundary</c:v>
                </c:pt>
                <c:pt idx="2">
                  <c:v>At boundary</c:v>
                </c:pt>
                <c:pt idx="3">
                  <c:v>Above boundary</c:v>
                </c:pt>
                <c:pt idx="4">
                  <c:v>Invalid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4</c:v>
                </c:pt>
                <c:pt idx="4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Duplicate calculation blocks found</c:v>
                </c:pt>
              </c:strCache>
            </c:strRef>
          </c:tx>
          <c:spPr>
            <a:solidFill>
              <a:srgbClr val="F59E0B"/>
            </a:solidFill>
            <a:ln>
              <a:solidFill>
                <a:srgbClr val="F59E0B"/>
              </a:solidFill>
            </a:ln>
          </c:spPr>
          <c:cat>
            <c:strRef>
              <c:f>Sheet1!$A$2:$A$5</c:f>
              <c:strCache>
                <c:ptCount val="4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9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Exceptions detected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Missing</c:v>
                </c:pt>
                <c:pt idx="1">
                  <c:v>Duplicate</c:v>
                </c:pt>
                <c:pt idx="2">
                  <c:v>Invalid range</c:v>
                </c:pt>
                <c:pt idx="3">
                  <c:v>Bad type</c:v>
                </c:pt>
                <c:pt idx="4">
                  <c:v>Unmatched key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4</c:v>
                </c:pt>
                <c:pt idx="2">
                  <c:v>3</c:v>
                </c:pt>
                <c:pt idx="3">
                  <c:v>6</c:v>
                </c:pt>
                <c:pt idx="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monthly return (%)</c:v>
                </c:pt>
              </c:strCache>
            </c:strRef>
          </c:tx>
          <c:spPr>
            <a:solidFill>
              <a:srgbClr val="0FA98A"/>
            </a:solidFill>
            <a:ln>
              <a:solidFill>
                <a:srgbClr val="0FA98A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1.8</c:v>
                </c:pt>
                <c:pt idx="1">
                  <c:v>-2.4</c:v>
                </c:pt>
                <c:pt idx="2">
                  <c:v>3.1</c:v>
                </c:pt>
                <c:pt idx="3">
                  <c:v>0.6</c:v>
                </c:pt>
                <c:pt idx="4">
                  <c:v>-1.5</c:v>
                </c:pt>
                <c:pt idx="5">
                  <c:v>2.7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Annualised volatility (%)</c:v>
                </c:pt>
              </c:strCache>
            </c:strRef>
          </c:tx>
          <c:spPr>
            <a:solidFill>
              <a:srgbClr val="7C3AED"/>
            </a:solidFill>
            <a:ln>
              <a:solidFill>
                <a:srgbClr val="7C3AED"/>
              </a:solidFill>
            </a:ln>
          </c:spPr>
          <c:cat>
            <c:strRef>
              <c:f>Sheet1!$A$2:$A$7</c:f>
              <c:strCache>
                <c:ptCount val="6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</c:v>
                </c:pt>
                <c:pt idx="5">
                  <c:v>Q6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14</c:v>
                </c:pt>
                <c:pt idx="2">
                  <c:v>21</c:v>
                </c:pt>
                <c:pt idx="3">
                  <c:v>28</c:v>
                </c:pt>
                <c:pt idx="4">
                  <c:v>18</c:v>
                </c:pt>
                <c:pt idx="5">
                  <c:v>16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5049-Python-Programming-for-Financ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penai.github.io/openai-agents-python/running_agents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ython-finance-cove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oto-fade-white-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0"/>
            <a:ext cx="749808" cy="6858000"/>
          </a:xfrm>
          <a:prstGeom prst="rect">
            <a:avLst/>
          </a:prstGeom>
        </p:spPr>
      </p:pic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2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41732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539496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1F3A"/>
                </a:solidFill>
                <a:latin typeface="Arial"/>
              </a:rPr>
              <a:t>Python Programming for Finance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401568"/>
            <a:ext cx="1371600" cy="6400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53949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Course Code: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87952"/>
            <a:ext cx="5394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3 days · 24 hours · Hands-on financial analytics
Conducted by Tertiary Infotech Academy Pte Ltd ·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5303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v1.4 · 24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81344"/>
            <a:ext cx="53035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3 days · 24 hours · finance-focused Python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transition spd="med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AM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Scan the TRAQOM/SSG QR code at the start of each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PM 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 the second attendance window when directed.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Take the separate digital attendance before the assessment.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Eligibility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At least 75% attendance and competency in all assessments are required.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3383280" cy="427939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286000"/>
            <a:ext cx="1600200" cy="160020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679192"/>
            <a:ext cx="16002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88036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288036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73152" cy="6949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88366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187452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60604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606040"/>
            <a:ext cx="73152" cy="69494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70662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FA98A"/>
                </a:solidFill>
                <a:latin typeface="Arial"/>
              </a:rPr>
              <a:t>TITLE / DESIGNATION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2472" y="269748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2" y="342900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0832" y="3429000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352958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2472" y="352044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425196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51960"/>
            <a:ext cx="73152" cy="6949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435254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62472" y="434340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507492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70832" y="5074920"/>
            <a:ext cx="73152" cy="6949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2" y="517550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TRAINING EXPERIENCE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62472" y="516636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0832" y="589788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5897880"/>
            <a:ext cx="73152" cy="69494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432" y="599846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FA98A"/>
                </a:solidFill>
                <a:latin typeface="Arial"/>
              </a:rPr>
              <a:t>CONTACT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62472" y="598932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3383280" cy="427939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286000"/>
            <a:ext cx="1600200" cy="1600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679192"/>
            <a:ext cx="16002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88036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288036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73152" cy="6949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88366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187452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Founder and Managing Director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60604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606040"/>
            <a:ext cx="73152" cy="69494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70662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FA98A"/>
                </a:solidFill>
                <a:latin typeface="Arial"/>
              </a:rPr>
              <a:t>QUALIFICATIONS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2472" y="269748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PhD, MEng and MBA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2" y="342900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0832" y="3429000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352958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3AED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2472" y="352044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25+ years in IT, AI and financial systems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425196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51960"/>
            <a:ext cx="73152" cy="6949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435254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59E0B"/>
                </a:solidFill>
                <a:latin typeface="Arial"/>
              </a:rPr>
              <a:t>DELIVERS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62472" y="434340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Accredited data, AI and programming programmes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5074920"/>
            <a:ext cx="7132320" cy="6949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70832" y="5074920"/>
            <a:ext cx="73152" cy="6949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2" y="5175504"/>
            <a:ext cx="15544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FOCUS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62472" y="5166360"/>
            <a:ext cx="507492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Applied analytics and accountable automation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Let’s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Name, organisation and 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Experience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Python, Excel or data analysis experience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Finance 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report or decision you want to improve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What a useful result looks like after three days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1344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Participate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Ask questions and share relevant experience.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134416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conversation at a time; disagree constructively.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3282696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282696"/>
            <a:ext cx="73152" cy="1344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511296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56616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3438144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Protect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3813048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only supplied or authorised finance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3282696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3282696"/>
            <a:ext cx="73152" cy="1344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3511296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356616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3438144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Be punctual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3813048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Return from breaks and lunch on time.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4828032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828032"/>
            <a:ext cx="73152" cy="1344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5056632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11149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36192" y="498348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5358384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 not trust output only because it looks plausible.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22492" y="4828032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22492" y="4828032"/>
            <a:ext cx="73152" cy="134416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3660" y="5056632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3660" y="511149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452" y="498348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5452" y="5358384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Help peers explain decisions, not copy answers.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40080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83080"/>
            <a:ext cx="640080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1901952"/>
            <a:ext cx="146304" cy="146304"/>
          </a:xfrm>
          <a:prstGeom prst="ellipse">
            <a:avLst/>
          </a:prstGeom>
          <a:solidFill>
            <a:srgbClr val="D92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19019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1901952"/>
            <a:ext cx="146304" cy="146304"/>
          </a:xfrm>
          <a:prstGeom prst="ellipse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64208" y="1883664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" y="2514600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62432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2587752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the course invitation or trainer-provided credentials.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3264408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37413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FA98A"/>
                </a:solidFill>
                <a:latin typeface="Arial"/>
              </a:rPr>
              <a:t>2 · OPEN COURSEWARE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37560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Choose the current Python Programming for Finance course.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" y="4014215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12394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3AED"/>
                </a:solidFill>
                <a:latin typeface="Arial"/>
              </a:rPr>
              <a:t>3 · DOWNLOAD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087368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Save the slides, Learner Guide and lab folders locally.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" y="4764024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873752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59E0B"/>
                </a:solidFill>
                <a:latin typeface="Arial"/>
              </a:rPr>
              <a:t>4 · ASSESS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4837176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and submit the learner-facing papers only when directed.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4927" y="1783080"/>
            <a:ext cx="4078224" cy="4160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2" y="2148840"/>
            <a:ext cx="3429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761488"/>
            <a:ext cx="3337560" cy="2011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Visual course slides
• Detailed Learner Guide
• 17 self-contained lab folders
• Starter code and offline data
• Assessment papers on the LMS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5230368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u="sng">
                <a:solidFill>
                  <a:srgbClr val="1F6FEB"/>
                </a:solidFill>
                <a:latin typeface="Arial"/>
                <a:hlinkClick r:id="rId2"/>
              </a:rPr>
              <a:t>Open LMS/TMS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3 Days, 24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3383280" cy="4160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28800"/>
            <a:ext cx="338328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975104"/>
            <a:ext cx="31089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697480"/>
            <a:ext cx="292608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Python foundations and finance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260604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• Topics 1–3
• Labs 1–6
• Python and finance logic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5285232"/>
            <a:ext cx="29260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9:00 AM – 6:00 PM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19" y="1828800"/>
            <a:ext cx="3383280" cy="4160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19" y="1828800"/>
            <a:ext cx="338328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1975104"/>
            <a:ext cx="31089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19" y="2697480"/>
            <a:ext cx="292608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Reusable code and Pandas data 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7" y="3703320"/>
            <a:ext cx="260604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• Topics 4–5
• Labs 7–11
• Functions and data preparation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19" y="5285232"/>
            <a:ext cx="29260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9:00 AM – 6:00 PM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6" y="1828800"/>
            <a:ext cx="3383280" cy="4160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6" y="1828800"/>
            <a:ext cx="3383280" cy="5303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6" y="1975104"/>
            <a:ext cx="31089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DAY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6" y="2697480"/>
            <a:ext cx="292608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Aggregation, visualisation and financial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4" y="3703320"/>
            <a:ext cx="260604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• Topics 6–7
• Labs 12–17
• 2-hour final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6" y="5285232"/>
            <a:ext cx="29260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9:00 AM – 6:00 PM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95783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Translate finance business requirements into clear Python programming objectives and configure a reproducible development environment.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95783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Python data types and operators to represent, calculate and present financial information accurately.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2896362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2896362"/>
            <a:ext cx="73152" cy="95783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12496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7982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305181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3426714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Organise finance logic with conditional statements, loops and comprehensions to solve repeatable analytical problems.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2896362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2896362"/>
            <a:ext cx="73152" cy="95783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312496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317982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305181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3426714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Create reusable functions and lambda-based transformations for finance business use cases.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4055364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055364"/>
            <a:ext cx="73152" cy="95783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585716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Import, inspect, filter, slice and clean finance data with Pandas Series and DataFrames.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22492" y="4055364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22492" y="4055364"/>
            <a:ext cx="73152" cy="95783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5452" y="4585716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Join, aggregate, test and visualise finance data using groupby, pivot tables and appropriate charts.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214366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5214366"/>
            <a:ext cx="73152" cy="95783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" y="5442966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9783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369814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36192" y="5744718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Improve analytical code with apply and pipe, use descriptive statistics, and analyse changes in financial data over time.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BEFORE YOU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1344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Individual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 the papers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134416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approved course materials only.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3282696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282696"/>
            <a:ext cx="73152" cy="1344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511296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56616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3438144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3813048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Show calculations, code and requested outputs.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3282696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3282696"/>
            <a:ext cx="73152" cy="1344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3511296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356616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3438144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Conduct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3813048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 discussion, photos or recording.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4828032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828032"/>
            <a:ext cx="73152" cy="1344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5056632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11149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36192" y="498348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5358384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Upload completed question papers on the LMS.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22492" y="4828032"/>
            <a:ext cx="5280660" cy="134416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22492" y="4828032"/>
            <a:ext cx="73152" cy="134416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3660" y="5056632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3660" y="511149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452" y="498348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Sign-off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5452" y="5358384"/>
            <a:ext cx="4293108" cy="7040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 the Assessment Summary Record.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WA · 60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8 open-ended short-answer questions covering K1–K8.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PP · 60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practical tasks covering A1–A9 and aligned to Labs 1, 13 and 14.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Both instruments are open book; demonstrate correct, explainable work.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assessment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Written Assessment (WA)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Practical Performance (PP)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Upload papers to LMS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LEARNER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10789920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29968"/>
            <a:ext cx="10378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u="sng">
                <a:solidFill>
                  <a:srgbClr val="FFFFFF"/>
                </a:solidFill>
                <a:latin typeface="Arial"/>
                <a:hlinkClick r:id="rId2"/>
              </a:rPr>
              <a:t>https://github.com/tertiarycourses/TGS-2026065049-Python-Programming-for-Finance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27248"/>
            <a:ext cx="1028700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Each lab folder is self-contained: README, PDF guide, starter.py, solution.py, tests and the data needed to run offline.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773168"/>
            <a:ext cx="102870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Detailed click-by-click procedures are in the Learner Guide and lab README—not in the concept-led slide deck.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TWO WAYS TO GET THE PUBLIC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Option A · Clone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git clone https://github.com/tertiarycourses/TGS-2026065049-Python-Programming-for-Finance.git
Keeps the folder structure and makes updates easy.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Option B ·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GitHub → Code → Download ZIP
Extract it locally before opening a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Python, Data and Decisions in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 controlled analytical workflow from requirement to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transition spd="med">
    <p:push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Where Python Creates Value in Finance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pic>
        <p:nvPicPr>
          <p:cNvPr id="10" name="Picture 9" descr="python-finance-use-cases-v1-blend-13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5943600" cy="4315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51460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8992" y="2084832"/>
            <a:ext cx="1097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1">
                <a:solidFill>
                  <a:srgbClr val="0B1F3A"/>
                </a:solidFill>
                <a:latin typeface="Arial"/>
              </a:rPr>
              <a:t>PYTHON AT 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6832" y="1783080"/>
            <a:ext cx="4846320" cy="749808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6832" y="1783080"/>
            <a:ext cx="73152" cy="7498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39712" y="196596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03911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1109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Market +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1856232"/>
            <a:ext cx="2176272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Acquire prices; calculate value, weights, returns and risk.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6832" y="2633472"/>
            <a:ext cx="4846320" cy="749808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2633472"/>
            <a:ext cx="73152" cy="74980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39712" y="2816352"/>
            <a:ext cx="384048" cy="38404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2889504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2761488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A98A"/>
                </a:solidFill>
                <a:latin typeface="Arial"/>
              </a:rPr>
              <a:t>Credit 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5672" y="2706624"/>
            <a:ext cx="2176272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Encode affordability, segmentation and review thresholds.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56832" y="3483864"/>
            <a:ext cx="4846320" cy="749808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56832" y="3483864"/>
            <a:ext cx="73152" cy="7498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39712" y="366674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3739896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611880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Reporting +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3557016"/>
            <a:ext cx="2176272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Automate tables and charts; reconcile inputs and exceptions.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4334256"/>
            <a:ext cx="4846320" cy="749808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4334256"/>
            <a:ext cx="73152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39712" y="451713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9712" y="4590288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064" y="4462272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Arial"/>
              </a:rPr>
              <a:t>Rapid prototyping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05672" y="4407408"/>
            <a:ext cx="2176272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Turn an analytical idea into tested, reviewable Python logic.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56832" y="5221224"/>
            <a:ext cx="4846320" cy="877824"/>
          </a:xfrm>
          <a:prstGeom prst="roundRect">
            <a:avLst/>
          </a:prstGeom>
          <a:solidFill>
            <a:srgbClr val="E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5340096"/>
            <a:ext cx="4443984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58A55"/>
                </a:solidFill>
                <a:latin typeface="Arial"/>
              </a:rPr>
              <a:t>DECISION / CONTROL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605272"/>
            <a:ext cx="444398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Python speeds up the analytical chain; validated data, reconciliations and accountable review make the result decision-ready.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CORE CONCEPTS · AI-ASSISTED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Generative AI vs Agentic AI: Different Units of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783080"/>
            <a:ext cx="2057400" cy="47548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11096"/>
            <a:ext cx="1837944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0632" y="1783080"/>
            <a:ext cx="4224528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911096"/>
            <a:ext cx="4005072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GENERATIVE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1783080"/>
            <a:ext cx="4507992" cy="4754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1911096"/>
            <a:ext cx="4288536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AGENTIC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258568"/>
            <a:ext cx="2057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313432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Unit of 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0632" y="2258568"/>
            <a:ext cx="422452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2313432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A prompt plus supplied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2258568"/>
            <a:ext cx="450799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04888" y="2313432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A goal plus constraints and success criteria.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2697480"/>
            <a:ext cx="2057400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752344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Run pattern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70632" y="2697480"/>
            <a:ext cx="4224528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2752344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One or a few model responses produce a candidate output.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2697480"/>
            <a:ext cx="4507992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04888" y="2752344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Plan → use tools → observe → evaluate; repeat until done or stopped.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3136392"/>
            <a:ext cx="2057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Tools and action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136392"/>
            <a:ext cx="422452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3191256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May suggest code or analysis; a person usually executes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95160" y="3136392"/>
            <a:ext cx="450799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04888" y="3191256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Invokes permitted Python functions, data sources, APIs or workflow actions.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3575304"/>
            <a:ext cx="2057400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630168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State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70632" y="3575304"/>
            <a:ext cx="4224528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0360" y="3630168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Often limited to the request or conversation context.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5160" y="3575304"/>
            <a:ext cx="4507992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04888" y="3630168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Maintains task state and checkpoints across multiple steps when engineered.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4014216"/>
            <a:ext cx="2057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069080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Completion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4014216"/>
            <a:ext cx="422452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80360" y="4069080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A draft, summary, explanation or code suggestion is ready for review.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5160" y="4014216"/>
            <a:ext cx="450799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04888" y="4069080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The objective passes checks, or an exception is routed with evidence.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" y="4453128"/>
            <a:ext cx="2057400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507992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Human responsibility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70632" y="4453128"/>
            <a:ext cx="4224528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4507992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Validate the content, then decide and act.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95160" y="4453128"/>
            <a:ext cx="4507992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04888" y="4507992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Set permissions and policies; approve material actions and exceptions.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" y="4892040"/>
            <a:ext cx="2057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4946904"/>
            <a:ext cx="1837944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>
                <a:solidFill>
                  <a:srgbClr val="0B1F3A"/>
                </a:solidFill>
                <a:latin typeface="Arial"/>
              </a:rPr>
              <a:t>Primary risk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70632" y="4892040"/>
            <a:ext cx="422452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80360" y="4946904"/>
            <a:ext cx="40050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Plausible but unsupported content or code.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95160" y="4892040"/>
            <a:ext cx="450799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04888" y="4946904"/>
            <a:ext cx="428853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An error or unauthorised action can propagate through connected tools.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" y="5440680"/>
            <a:ext cx="10789920" cy="475488"/>
          </a:xfrm>
          <a:prstGeom prst="roundRect">
            <a:avLst/>
          </a:prstGeom>
          <a:solidFill>
            <a:srgbClr val="ED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6112" y="5513832"/>
            <a:ext cx="104241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69" b="1">
                <a:solidFill>
                  <a:srgbClr val="0B1F3A"/>
                </a:solidFill>
                <a:latin typeface="Arial"/>
              </a:rPr>
              <a:t>Finance example · Generative AI drafts variance commentary from supplied tables. Agentic AI can retrieve approved data, run Python checks, investigate exceptions, attach evidence and route the pack for approval.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6199632"/>
            <a:ext cx="49377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u="sng">
                <a:solidFill>
                  <a:srgbClr val="5B6372"/>
                </a:solidFill>
                <a:latin typeface="Arial"/>
                <a:hlinkClick r:id="rId2"/>
              </a:rPr>
              <a:t>Source: OpenAI Agents SDK · Agents and agent loop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CORE CONCEPTS · FINANCE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Value of Agentic AI Is Controlled Workflow Closure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446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1965960"/>
            <a:ext cx="59893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MONTHLY VARIANCE PACK · EXECUTION TRACE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2450592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523744"/>
            <a:ext cx="402336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90472" y="2395728"/>
            <a:ext cx="5440680" cy="5120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73352" y="2478024"/>
            <a:ext cx="13258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</a:rPr>
              <a:t>GOAL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450592"/>
            <a:ext cx="384048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Define the reporting period, materiality rule and allowed data sources.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43000" y="2907792"/>
            <a:ext cx="0" cy="128016"/>
          </a:xfrm>
          <a:prstGeom prst="line">
            <a:avLst/>
          </a:prstGeom>
          <a:ln w="22860">
            <a:solidFill>
              <a:srgbClr val="DCE3E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41832" y="3108960"/>
            <a:ext cx="402336" cy="402336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182112"/>
            <a:ext cx="402336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90472" y="3054096"/>
            <a:ext cx="5440680" cy="5120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73352" y="3136392"/>
            <a:ext cx="13258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0FA98A"/>
                </a:solidFill>
                <a:latin typeface="Arial"/>
              </a:rPr>
              <a:t>RETRIEVE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108960"/>
            <a:ext cx="384048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Read the approved general-ledger and budget extracts.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66160"/>
            <a:ext cx="0" cy="128016"/>
          </a:xfrm>
          <a:prstGeom prst="line">
            <a:avLst/>
          </a:prstGeom>
          <a:ln w="22860">
            <a:solidFill>
              <a:srgbClr val="DCE3E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41832" y="3767328"/>
            <a:ext cx="402336" cy="40233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40480"/>
            <a:ext cx="402336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90472" y="3712464"/>
            <a:ext cx="5440680" cy="5120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73352" y="3794760"/>
            <a:ext cx="13258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7C3AED"/>
                </a:solidFill>
                <a:latin typeface="Arial"/>
              </a:rPr>
              <a:t>RECONCILE IN PYTHON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3767328"/>
            <a:ext cx="384048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Match entities and accounts; stop if totals or row counts fail.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43000" y="4224528"/>
            <a:ext cx="0" cy="128016"/>
          </a:xfrm>
          <a:prstGeom prst="line">
            <a:avLst/>
          </a:prstGeom>
          <a:ln w="22860">
            <a:solidFill>
              <a:srgbClr val="DCE3E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41832" y="4425696"/>
            <a:ext cx="402336" cy="40233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498848"/>
            <a:ext cx="402336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90472" y="4370832"/>
            <a:ext cx="5440680" cy="5120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73352" y="4453128"/>
            <a:ext cx="13258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F59E0B"/>
                </a:solidFill>
                <a:latin typeface="Arial"/>
              </a:rPr>
              <a:t>INVESTIGATE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425696"/>
            <a:ext cx="384048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Calculate material variances and attach source evidence.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882896"/>
            <a:ext cx="0" cy="128016"/>
          </a:xfrm>
          <a:prstGeom prst="line">
            <a:avLst/>
          </a:prstGeom>
          <a:ln w="22860">
            <a:solidFill>
              <a:srgbClr val="DCE3E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41832" y="5084064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5157216"/>
            <a:ext cx="402336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90472" y="5029200"/>
            <a:ext cx="5440680" cy="5120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73352" y="5111496"/>
            <a:ext cx="13258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</a:rPr>
              <a:t>APPROVE + PUBLISH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084064"/>
            <a:ext cx="384048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Route the draft to an accountable reviewer before release.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1832" y="5669280"/>
            <a:ext cx="5989320" cy="274320"/>
          </a:xfrm>
          <a:prstGeom prst="roundRect">
            <a:avLst/>
          </a:prstGeom>
          <a:solidFill>
            <a:srgbClr val="FD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8992" y="5733288"/>
            <a:ext cx="5715000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80" b="1">
                <a:solidFill>
                  <a:srgbClr val="F59E0B"/>
                </a:solidFill>
                <a:latin typeface="Arial"/>
              </a:rPr>
              <a:t>STOP RULE · No publication when reconciliation fails or approval is missing.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34072" y="1965960"/>
            <a:ext cx="40233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A98A"/>
                </a:solidFill>
                <a:latin typeface="Arial"/>
              </a:rPr>
              <a:t>VALUE LEVER · MEASURE 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88352" y="2395728"/>
            <a:ext cx="4114800" cy="731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88352" y="2395728"/>
            <a:ext cx="73152" cy="7315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6952" y="2505456"/>
            <a:ext cx="1298448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>
                <a:solidFill>
                  <a:srgbClr val="1F6FEB"/>
                </a:solidFill>
                <a:latin typeface="Arial"/>
              </a:rPr>
              <a:t>CYCLE 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2468880"/>
            <a:ext cx="23774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Measure end-to-end elapsed time, including waits and retries.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88352" y="3255264"/>
            <a:ext cx="4114800" cy="731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255264"/>
            <a:ext cx="73152" cy="73152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16952" y="3364992"/>
            <a:ext cx="1298448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>
                <a:solidFill>
                  <a:srgbClr val="0FA98A"/>
                </a:solidFill>
                <a:latin typeface="Arial"/>
              </a:rPr>
              <a:t>COVERAGE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7112" y="3328416"/>
            <a:ext cx="23774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Measure the percentage of entities and records checked each run.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8352" y="4114800"/>
            <a:ext cx="4114800" cy="731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88352" y="41148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16952" y="4224528"/>
            <a:ext cx="1298448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>
                <a:solidFill>
                  <a:srgbClr val="7C3AED"/>
                </a:solidFill>
                <a:latin typeface="Arial"/>
              </a:rPr>
              <a:t>CONTROL CONSISTENCY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97112" y="4187952"/>
            <a:ext cx="23774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Measure runs completing every mandatory reconciliation.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88352" y="4974336"/>
            <a:ext cx="4114800" cy="731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88352" y="4974336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16952" y="5084064"/>
            <a:ext cx="1298448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>
                <a:solidFill>
                  <a:srgbClr val="F59E0B"/>
                </a:solidFill>
                <a:latin typeface="Arial"/>
              </a:rPr>
              <a:t>HUMAN LEVERAGE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2" y="5047488"/>
            <a:ext cx="23774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69" b="0">
                <a:solidFill>
                  <a:srgbClr val="161B26"/>
                </a:solidFill>
                <a:latin typeface="Arial"/>
              </a:rPr>
              <a:t>Measure analyst time redirected to exceptions and judgement.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88352" y="5833871"/>
            <a:ext cx="4114800" cy="246888"/>
          </a:xfrm>
          <a:prstGeom prst="roundRect">
            <a:avLst/>
          </a:prstGeom>
          <a:solidFill>
            <a:srgbClr val="E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34656" y="5888736"/>
            <a:ext cx="3822192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790" b="1">
                <a:solidFill>
                  <a:srgbClr val="158A55"/>
                </a:solidFill>
                <a:latin typeface="Arial"/>
              </a:rPr>
              <a:t>Value is valid only inside permissions, checks and human accountability.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6199632"/>
            <a:ext cx="868680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5B6372"/>
                </a:solidFill>
                <a:latin typeface="Arial"/>
              </a:rPr>
              <a:t>Sources: OpenAI Agents SDK; NIST AI RMF Playbook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END-TO-END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Controlled Finance Analytics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Business requirement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 and assumptions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Code and tests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Analytical evidence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Decision and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CONTROL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Four Controls on Every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Completeness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Did all expected rows, periods and instruments arrive?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Validity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Are types, ranges and categories defensible?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 known examples and reconciliations match?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Explainability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Can another person trace data, assumptions and formulas?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START OF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Python foundations and finance logic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transition spd="med">
    <p:push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DAY 1 · 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1 Learning 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Review the previous day’s evidence and open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Build the mental model before touching the code.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finance scenarios and offline-safe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Reconcile results and explain what they mean.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Introduction to Python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Business requirements · finance use cases · environment · first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transition spd="med">
    <p:push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LO1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Introduction to Python Programming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Business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Define the decision, users, data, output and acceptance criteria before writing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Finance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Python connects market data, calculations, visualisation, automation and AI in one ecosystem.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Reproducibility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locked environment makes analytical results easier to review, repeat and audit.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Accountability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analyst remains responsible for validating inputs, formulas, assumptions and outputs.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FINANCE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Why Python Is Used in Finance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pic>
        <p:nvPicPr>
          <p:cNvPr id="10" name="Picture 9" descr="python-finance-business-to-code-v1-blend-13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5943600" cy="4315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51460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8992" y="2084832"/>
            <a:ext cx="10972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1">
                <a:solidFill>
                  <a:srgbClr val="0B1F3A"/>
                </a:solidFill>
                <a:latin typeface="Arial"/>
              </a:rPr>
              <a:t>REQUIREMENT TO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6832" y="1783080"/>
            <a:ext cx="4846320" cy="987552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6832" y="1783080"/>
            <a:ext cx="73152" cy="9875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39712" y="196596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03911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1109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1856232"/>
            <a:ext cx="217627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Pandas and NumPy turn tables and time series into repeatable calculations.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6832" y="2880360"/>
            <a:ext cx="4846320" cy="987552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2880360"/>
            <a:ext cx="73152" cy="9875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39712" y="3063240"/>
            <a:ext cx="384048" cy="38404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13639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300837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A98A"/>
                </a:solidFill>
                <a:latin typeface="Arial"/>
              </a:rPr>
              <a:t>Automation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5672" y="2953512"/>
            <a:ext cx="217627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Scripts remove manual copy-and-paste from recurring reports.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56832" y="3977640"/>
            <a:ext cx="4846320" cy="987552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56832" y="3977640"/>
            <a:ext cx="73152" cy="9875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39712" y="416052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23367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10565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Decision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4050792"/>
            <a:ext cx="217627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Charts, statistics and rules surface trends, risk and exceptions.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5111496"/>
            <a:ext cx="4846320" cy="987552"/>
          </a:xfrm>
          <a:prstGeom prst="roundRect">
            <a:avLst/>
          </a:prstGeom>
          <a:solidFill>
            <a:srgbClr val="E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5230368"/>
            <a:ext cx="4443984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58A55"/>
                </a:solidFill>
                <a:latin typeface="Arial"/>
              </a:rPr>
              <a:t>DECISION /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495544"/>
            <a:ext cx="4443984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Python creates value when a finance requirement becomes transparent code, testable calculations and reviewable evidence.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From a business requirement to working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Clarify the decision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inputs and rules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Design the output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Build a small test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Finance coding risk: plausible is not correct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Looks plausible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chart renders and totals appear reasonable.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Is validated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Inputs reconcile, formulas are tested, edge cases are handled and results are explainable.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Choosing a Python workspace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Google Colab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Fast browser start; easy sharing; cloud session.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VS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Local files, extensions, debugger and source control.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JupyterLab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Exploration with narrative, code and charts together.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uv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Fast dependency management and reproducible environments.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anatomy of a finance 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25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25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Imports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760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4508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224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688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436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3108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108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52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 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1616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036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036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Transform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544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2292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964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008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3472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9822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089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089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93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Present or save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Acceptance criteria make results testable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Correctness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Known inputs produce expected outputs.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Resilience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Missing or invalid data is handled safely.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Output is clear, labelled and decision-ready.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requirement becomes a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requirement = {'ticker':'D05.SI', 'currency':'SGD'}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accept = 'five prices, 2 decimals, no crash on empty data'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Guard the empty-data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if prices.empty: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return {'status': 'NO DATA', 'rows': 0}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44368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return {'status': 'OK', 'rows': len(prices)}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9" name="Oval 18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2" name="Oval 21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5" name="Oval 24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8" name="Oval 27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Python connects the finance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Python supports the full analytical chain; controls and validation sit across every stage.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Illustrative capability coverage (%)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Introduction to Python Programming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4434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Set Up a Reproducible Finance Project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443484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Translate a Finance Requirement into an SGX Price Tool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01 · HANDS-ON · LAB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Set Up a Reproducible Finance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bank analytics team needs every learner to run the same package versions and verify the environment before analysing SGX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verified Python project with an environment check and dependency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Python 3, uv or venv, Pandas, Matplotlib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LO1 / A1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labs/lab-01-*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01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Set Up a Reproducible Finance Project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requirement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Create environment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Install packages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checks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Capture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Set Up a Reproducible Finance Project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script prints the Python, Pandas, NumPy and Matplotlib versions and ends with ENVIRONMENT READY.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01 · HANDS-ON · LAB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Translate a Finance Requirement into an SGX Price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wealth desk wants a repeatable daily price summary for a small basket of Singapore-listed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requirement canvas, acceptance tests and an offline-safe SGX price summary script.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Python, CSV, optional yfinance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labs/lab-02-*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02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Translate a Finance Requirement into an SGX Price Tool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Clarify need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acceptance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 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Format report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Test exceptions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Translate a Finance Requirement into an SGX Price Tool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report prints five labelled SGX prices to two decimals, handles an invalid ticker without crashing, and all tests pass.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Introduction to Python Programming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Define the decision, users, data, output and acceptance criteria before writing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Why Python Is Used in Finance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1, Lab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Data Types and Operators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Numbers · strings · lists · tuples · dictionaries · sets · operators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transition spd="med">
    <p:push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LO2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Data Types and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Numbers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int for counts and float or Decimal for measured financial values.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Strings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Clean labels, identifiers, dates and report text before matching or presenting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Collections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Lists, tuples, dictionaries and sets organise positions, identifiers and attributes.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Operators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Arithmetic, comparison and logical operators encode calculations and decisions.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Financial numbers: precision and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float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Fast and common for analytics; binary representation can create tiny rounding artefacts.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Decimal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Base-10 arithmetic suited to currency rules where exact decimal behaviour matters.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Formatting values for decision-makers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Currency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Thousands separators and two decimal places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Percentage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Multiply ratio by 100 and label the unit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Basis points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basis point equals 0.01 percentage 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Large values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K, M or B only when the scale stays explicit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Collection choice is a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Ordered, mutable sequence of prices or positions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tuple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Fixed instrument identifier or multiple return values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Ticker-to-price or named financial attributes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Unique holdings and portfolio overlap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Operator families in finance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Arithmetic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+ - * / ** % for value, return, growth and allocation.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Threshold rules such as ROE &gt; 10 or PE &lt;= 20.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Logical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Combine conditions with and, or and not.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Safe calculation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Check denominator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Round for display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Retain full precision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Data structures shape downstream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Row-oriented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list of dictionaries is readable and converts naturally to a DataFrame.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Parallel lists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Easy to start, but alignment errors grow as fields are added.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Currency formatting keeps units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value = 12_487_650.75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print(f'SGD {value:,.2f}')  # SGD 12,487,650.75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dictionary makes attributes explicit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holding = {'ticker':'D05.SI', 'shares':120, 'price':38.42}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value = holding['shares'] * holding['price']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Compounding separates contribution from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Compounding becomes dominant over longer horizons; assumptions should remain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Illustrative savings balance (SGD '000)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Data Types and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4434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Build a Loan Amortisation Calculator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443484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Model a Portfolio with Python Collections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HANDS-ON · LAB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Loan Amortisation Calculator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pic>
        <p:nvPicPr>
          <p:cNvPr id="10" name="Picture 9" descr="python-finance-loan-amortisation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LOAN MODELLING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 relationship manager needs a transparent monthly-instalment calculation including the zero-interest staff-loan case.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loan calculator with monthly payment, total repayment and total interest.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Reconcile principal, interest and ending balance; test zero-rate and boundary inputs.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Python, math, csv  ·  Folder: labs/lab-03-*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03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Loan Amortisation Calculator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terms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Convert 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payment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Handle zero rate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Verify known case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Loan Amortisation Calculator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For $500,000 at 2.6% over 25 years, payment is about $2,268.35; a 0% loan returns principal divided by months.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02 · HANDS-ON · LAB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Model a Portfolio with Python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investment team needs a clean in-memory representation of holdings, identifiers, sector groups and prices.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portfolio report using list, tuple, dictionary and set operations.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Python,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labs/lab-04-*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04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Model a Portfolio with Python Collections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 records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Choose collections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values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Find overlap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Reconcile weights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Model a Portfolio with Python Collections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holding has a market value, portfolio weights sum to 100%, and the overlap set is reported without duplicates.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Data Types and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int for counts and float or Decimal for measured financial values.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Financial numbers: precision and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3, Lab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Problem Solving with Control Structures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If/elif/else · loops · range · enumerate · zip · comprehensions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transition spd="med">
    <p:push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LO3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Problem Solving with Control Structures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Branching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if/elif/else when a finance rule selects one outcome from alternatives.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Iteration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loops to apply the same logic to positions, periods or scenarios.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Loop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break stops a search; continue skips an invalid record without ending the run.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Comprehensions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Create a transformed collection concisely when the rule remains readable.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Turn policy thresholds into explicit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metric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range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Evaluate highest-priority rule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 band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Explain outcome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Boundary conditions matter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Ambiguous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PE &lt; 15 is BUY and PE &gt; 25 is SELL—but what happens at 15 and 25?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Explicit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Define inclusive boundaries and test exactly below, at and above each threshold.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For loops over a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Take one holding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Look up price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market value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Accumulate total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Store result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enumerate and zip improve clarity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enumerate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Adds a stable row number while iterating.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Pairs aligned sequences such as tickers and quantities.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break and continue are control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Stop after the required match or a risk limit breach.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continue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Skip a malformed record and log why it was excluded.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else on loop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 only when the loop finishes without break.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Comprehension or loop?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Simple transform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Comprehension is concise and expressive.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Multiple branches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normal loop is easier to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Side effects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a loop; do not hide I/O in a comprehension.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Prefer clarity and intermediate variables.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Thresholds need exact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if pe &lt; 15: label = 'BUY'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elif pe &lt;= 25: label = 'HOLD'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44368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else: label = 'REVIEW'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9" name="Oval 18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2" name="Oval 21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5" name="Oval 24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8" name="Oval 27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readable comprehension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overweight = [h['ticker'] for h in holdings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          if h['weight'] &gt; 0.20]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Boundary tests concentrate around thresholds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More tests belong at decision boundaries than in routine middle cases.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Recommended test cases by class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Problem Solving with Control Structures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4434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Encode PE and ROE Valuation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443484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Loop Through a Portfolio and Build Comprehensions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03 · HANDS-ON · LAB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Encode PE and ROE Valuation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pic>
        <p:nvPicPr>
          <p:cNvPr id="10" name="Picture 9" descr="python-finance-valuation-policy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VALUATION RULE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An equity screen must classify securities consistently at defined PE and ROE thresholds.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boundary-tested BUY/HOLD/REVIEW valuation classifier.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Apply PE and ROE boundaries explicitly, including exact thresholds and missing metrics.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Python, unittest  ·  Folder: labs/lab-05-*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05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Encode PE and ROE Valuation Rules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policy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Order conditions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Classify metric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Combine rules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Test boundaries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Encode PE and ROE Valuation Rules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exact-boundary tests pass and each recommendation includes the rule that produced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03 · HANDS-ON · LAB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Loop Through a Portfolio and Build Comprehensions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portfolio analyst needs valuations for every valid position while malformed records are logged and excluded.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reconciled holdings table, exception log and concise list/dict comprehensions.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Python,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labs/lab-06-*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06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Loop Through a Portfolio and Build Comprehensions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holding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value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Accumulate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Transform summary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Loop Through a Portfolio and Build Comprehensions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invalid row is logged once, valid positions reconcile to the portfolio total, and comprehension results match the loop results.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Problem Solving with Control Structures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if/elif/else when a finance rule selects one outcome from alternatives.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Turn policy thresholds into explicit branches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5, Lab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START OF 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Reusable code and Pandas data 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transition spd="med">
    <p:push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DAY 2 · 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2 Learning 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Review the previous day’s evidence and open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Build the mental model before touching the code.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finance scenarios and offline-safe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Reconcile results and explain what they mean.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Scripting with Functions and Lambda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Functions · parameters · return values · scope · lambda · map · 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transition spd="med">
    <p:push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LO4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Scripting with Functions and Lambda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Single 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function should perform one understandable analytical responsibility.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Inputs and 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Parameters make assumptions visible; return values keep computation separate from display.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Well-named functions reduce repeated formulas and inconsistent fixes.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Lambda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small anonymous functions for short transformations, not complex business rules.</a:t>
            </a:r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Designing a finance function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Name the decision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parameters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assumptions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Return a stable type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Document edge cases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Parameters communicate intent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Positional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Compact when the order is obvious.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Keyword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Clearer for rates, periods and optional settings.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Default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Useful only when a defensible standard exists.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Variable arguments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Appropriate for flexible aggregation, used carefully.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Return calculations; print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result can be tested, reused, stored or charted.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Creates display output but is difficult to compose into another calculation.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Lambda, map and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Start with records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Transform with map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Select with filter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Materialise result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count and totals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Readable functions beat clever one-liners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Named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Best for multi-step logic, validation, documentation and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Lambda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Best for one short expression close to where it is used.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Unit tests protect recurring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Typical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representative input produces the known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Zero, exactly-at-threshold and extreme values behave correctly.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Invalid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Bad inputs fail safely with a useful message.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Return values keep logic reusable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def roe(net_income, avg_equity):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return None if avg_equity == 0 else net_income / avg_equity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Lambda stays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high_dti = filter(lambda row: row['dti'] &gt; 0.45, applicants)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manual_review = list(high_dti)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Reusable functions reduce duplicate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Centralising formulas reduces inconsistent fixes and review effort.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Duplicate calculation blocks found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Scripting with Functions and Lambda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4434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Create Reusable Financial Ratio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44348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443484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3794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Screen Customers with Lambda, Map and Filter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04 · HANDS-ON · LAB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Reusable Financial Ratio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bank reporting team calculates margin, ROE and ROA in several reports and needs one tested implementation.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ratios module returning named results with validation and tests.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Python, dataclasses, unittest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labs/lab-07-*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07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Reusable Financial Ratio Functions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contract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inputs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ratios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Return names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Test edge cases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Reusable Financial Ratio Functions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sample produces margin about 55.95%, ROE about 18.09% and ROA about 1.53%; tests pass.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04 · HANDS-ON · LAB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Screen Customers with Lambda, Map and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pic>
        <p:nvPicPr>
          <p:cNvPr id="10" name="Picture 9" descr="python-finance-credit-screening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CREDIT SCREENING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 retail bank wants to transform customer income into affordability ratios and filter applications for manual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readable transformation pipeline plus an equivalent named-function implementation.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Keep segmentation rules reviewable and record every applicant routed to manual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Python, csv, unittest  ·  Folder: labs/lab-08-*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08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Screen Customers with Lambda, Map and Filter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 applicants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Transform income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Apply risk rule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 cases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Compare implementations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Screen Customers with Lambda, Map and Filter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Lambda and named-function pipelines select the same applicant IDs, and counts reconcile to the input.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Scripting with Functions and Lambda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function should perform one understandable analytical responsibility.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Designing a finance function contract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7, Lab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Import and Process Finance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Pandas · Series · DataFrame · import · filter · slice ·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transition spd="med">
    <p:push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LO5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Import and Process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labelled one-dimensional array, such as closing prices indexed by date.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DataFrame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labelled table of rows and columns suitable for finance records and time series.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labels and conditions deliberately with loc, iloc and boolean masks.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Data quality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Missing, duplicate, invalid and inconsistent values must be measured before analysis.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finance data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25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25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Acquire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760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4508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224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Inspect schema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688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436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3108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108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52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Standardise types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1616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036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036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Clean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544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2292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964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008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3472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9822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089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089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93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Save curated data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Series and DataFrame mental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named measure plus an index.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DataFrame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Aligned Series sharing a row index.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Import defensively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Specify dates, dtypes and missing-value tokens where practical.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the intended sheet and confirm header rows.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Handle empty responses, rate limits and changing fields.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loc and iloc answer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Select by label or boolean condition; endpoints are label-inclusive.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iloc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Select by integer position; upper bound is excluded like normal slicing.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Missing data is a business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 when incomplete rows cannot support the decision.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Fixed 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only when zero or another constant has business meaning.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Forward fill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Carries the last observed value; risky across long gaps.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Impute/model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Requires assumptions that must be documented and tested.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Data-quality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25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25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Count rows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760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4508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224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Check uniqueness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688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436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3108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108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52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Measure missingness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1616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036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036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Test ranges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544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2292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964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008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Reconcile totals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34728" y="3817620"/>
            <a:ext cx="274320" cy="0"/>
          </a:xfrm>
          <a:prstGeom prst="line">
            <a:avLst/>
          </a:prstGeom>
          <a:ln w="29209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9822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08920" y="2487168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089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93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Log exclusions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Inspect before transforming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df = pd.read_csv('prices.csv', parse_dates=['Date'])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print(df.shape, df.dtypes, df.isna().sum())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Label selection states the business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banks = portfolio.loc[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(portfolio['Sector'] == 'Bank') &amp; (portfolio['Value'] &gt; 100_000)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44368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9" name="Oval 18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2" name="Oval 21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5" name="Oval 24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8" name="Oval 27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data audit makes defects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Profiling defects before cleaning creates a defensible reconciliation.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Exceptions detected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Import and Process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Import and Clean a Finance DataFrame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Filter and Slice Finance Data Safely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Run a Finance Data-Quality Audit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05 · HANDS-ON · LAB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Import and Clean a Finance DataFrame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treasury extract contains duplicated dates, missing prices and inconsistent date/value types.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curated price DataFrame and a written data-quality reconciliation.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Pandas,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labs/lab-09-*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09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Import and Clean a Finance DataFrame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Import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Standardise types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Resolve defects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Reconcile and save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09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Import and Clean a Finance DataFrame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curated file has unique sorted dates, numeric prices, no missing Close values, and a reconciliation from raw to clean rows.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05 · HANDS-ON · 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Filter and Slice Finance Data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portfolio manager asks for bank-sector positions above a materiality threshold and a date-windowed price series.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filtered positions file and labelled versus positional slice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Pandas,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labs/lab-10-*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10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Filter and Slice Finance Data Safely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population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Build mask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Slice labels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Slice positions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rows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Filter and Slice Finance Data Safely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filter returns only qualifying bank positions; loc and iloc row counts match their documented boundary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05 · HANDS-ON · 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Run a Finance Data-Quality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pic>
        <p:nvPicPr>
          <p:cNvPr id="10" name="Picture 9" descr="python-finance-data-audit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DATA-QUALITY AUDIT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 credit portfolio extract must pass completeness, uniqueness, range and reconciliation controls before modelling.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reusable audit function and exception report for loan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Fail the run when row counts, unique IDs, ranges or reconciled totals breach agreed controls.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Pandas, CSV, JSON  ·  Folder: labs/lab-11-*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11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Run a Finance Data-Quality Audit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Define controls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completeness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validity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Capture exceptions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Reconcile summary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Run a Finance Data-Quality Audit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audit identifies every planted defect, produces machine-readable counts and leaves the raw file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Import and Process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labelled one-dimensional array, such as closing prices indexed by date.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finance data pipeline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9, Lab 10, Lab 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START OF 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Aggregation, visualisation and financial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transition spd="med">
    <p:push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DAY 3 · 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3 Learning 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Review the previous day’s evidence and open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Build the mental model before touching the code.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finance scenarios and offline-safe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Reconcile results and explain what they mean.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Aggregate and Visualize Finance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concat · merge · groupby · pivot table · returns ·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transition spd="med">
    <p:push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LO6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Aggregate and Visualize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concat stacks compatible data; merge joins tables using explicit keys.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Aggregate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groupby splits records, applies calculations and combines results.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Pivot tables summarise a measure across two or more dimensions.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Visualise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Choose a chart that matches the analytical question and label units clearly.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concat and merge solve different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Append periods or place aligned series side by side.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Join facts and reference data by a validated key.</a:t>
            </a:r>
          </a:p>
        </p:txBody>
      </p:sp>
    </p:spTree>
  </p:cSld>
  <p:transition spd="fast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Validate every join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keys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Choose join type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Merge with indicator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Check row counts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 unmatched keys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split-apply-combine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Split by group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Apply metrics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Combine summary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Rename columns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Reconcile totals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Pivot tables answer cross-dimensional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Rows, such as sector.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Categories, such as risk band.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Measure, such as exposure.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aggfunc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How duplicates are summarised.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Choose the chart for the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Trend or comparison through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Compare categories.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Scatter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Relationship between two measures.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Histogram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Distribution and unusual observations.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chart is an analytical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date range, currency, population and data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honest axes and visible units.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what changed, why it matters and what to check next.</a:t>
            </a:r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Validate the merge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merged = apps.merge(sectors, on='Sector_Code',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                how='left', validate='many_to_one', indicator=True)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Returns turn price levels into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prices['Daily_Return'] = prices['Close'].pct_change()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vol = prices['Daily_Return'].std() * (252 **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7" name="Oval 16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0" name="Oval 19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6" name="Oval 25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Returns reveal risk hidden by price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smooth price path can still contain volatile returns and tail observations.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Illustrative monthly return (%)</a:t>
            </a:r>
          </a:p>
        </p:txBody>
      </p:sp>
    </p:spTree>
  </p:cSld>
  <p:transition spd="fast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Aggregate and Visualize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Join, Group and Pivot a Loan Portfolio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Visualize Daily Returns and Distribution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Build a Moving-Average Technical Analysis</a:t>
            </a:r>
          </a:p>
        </p:txBody>
      </p:sp>
    </p:spTree>
  </p:cSld>
  <p:transition spd="fast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HANDS-ON · LAB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Join, Group and Pivot a Loan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pic>
        <p:nvPicPr>
          <p:cNvPr id="10" name="Picture 9" descr="python-finance-loan-portfolio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PORTFOLIO RISK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 risk team needs exposure and approval metrics by sector, region and risk band from separate application and reference tables.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validated merge, groupby summary and pivot table exported to CSV.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Validate the merge relationship, unmatched keys and reconciled totals before trusting the pivot.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Pandas, CSV  ·  Folder: labs/lab-12-*</a:t>
            </a:r>
          </a:p>
        </p:txBody>
      </p:sp>
    </p:spTree>
  </p:cSld>
  <p:transition spd="fast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12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Join, Group and Pivot a Loan Portfolio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keys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Merge explicitly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 matches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Aggregate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Pivot and reconcile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Join, Group and Pivot a Loan Portfolio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No unexpected many-to-many join occurs, unmatched keys are reported, and summary exposure totals equal the source.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HANDS-ON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Visualize Daily Returns and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investment committee wants to understand daily price changes and the distribution of returns for DBS.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return series, line chart and histogram with labelled analytical takeaways.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Pandas, Matplotlib,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LO6 / A4 / A5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labs/lab-13-*</a:t>
            </a:r>
          </a:p>
        </p:txBody>
      </p:sp>
    </p:spTree>
  </p:cSld>
  <p:transition spd="fast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13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Visualize Daily Returns and Distribution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 prices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return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NaN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Plot time series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Plot distribution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Visualize Daily Returns and Distribution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returns.csv has one fewer non-null row than prices; charts render; summary statistics match Pandas calculations.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06 · HANDS-ON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Moving-Average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pic>
        <p:nvPicPr>
          <p:cNvPr id="10" name="Picture 9" descr="python-finance-technical-analysis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TECHNICAL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 quantitative analyst needs an OHLC view and 10/50-day moving averages with objectively detected crossover 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An offline-safe technical-analysis report with OHLC, moving averages and crossover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Use one price basis, verify both moving-average windows and label only detected crossovers.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Pandas, Matplotlib, optional yfinance  ·  Folder: labs/lab-14-*</a:t>
            </a:r>
          </a:p>
        </p:txBody>
      </p:sp>
    </p:spTree>
  </p:cSld>
  <p:transition spd="fast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14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Moving-Average Technical Analysis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Acquire OHLC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schema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averages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 crossover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Plot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Moving-Average Technical Analysis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output contains OHLC rows, MA10/MA50 values, at least one crossover date, and a labelled chart; the offline file always works.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Aggregate and Visualize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concat stacks compatible data; merge joins tables using explicit keys.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concat and merge solve different problems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12, Lab 13, Lab 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Analyze Finance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apply · pipe · statistics · correlation · rolling analysis · change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02920"/>
            <a:ext cx="201168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CE3EC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transition spd="med">
    <p:push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LO7 ·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Analyze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Run a function across rows or columns when vectorised operations are not practical.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Express a readable sequence of named DataFrame transformations.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Statistics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Describe centre, spread, relationships and unusual observations before drawing conclusions.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Change over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Returns, rolling windows and drawdown expose behaviour that levels alone can hide.</a:t>
            </a:r>
          </a:p>
        </p:txBody>
      </p:sp>
    </p:spTree>
  </p:cSld>
  <p:transition spd="fast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apply is flexible, but not automatically fast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Vectorised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Preferred for arithmetic and conditions supported directly by Pandas/NumPy.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Useful for custom row logic; benchmark on large data.</a:t>
            </a:r>
          </a:p>
        </p:txBody>
      </p:sp>
    </p:spTree>
  </p:cSld>
  <p:transition spd="fast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readable pipe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25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25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7608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4508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224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clean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6888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436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3108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108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52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enrich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16168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036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036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5448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2292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964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008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summarise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34728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982200" y="2103120"/>
            <a:ext cx="1511808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089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089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9360" y="3566160"/>
            <a:ext cx="1237488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Descriptive statistics form a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Mean/median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Typical level and sensitivity to skew.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Std/range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Dispersion and volatility.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Quantiles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Distribution and tail thresholds.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Count/missing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Coverage and reliability.</a:t>
            </a:r>
          </a:p>
        </p:txBody>
      </p:sp>
    </p:spTree>
  </p:cSld>
  <p:transition spd="fast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Covariance and correlation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52349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Covariance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Direction and joint movement in scale-dependent units.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8212" y="1874519"/>
            <a:ext cx="52349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8212" y="1874519"/>
            <a:ext cx="5234940" cy="5303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11680"/>
            <a:ext cx="49606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971800"/>
            <a:ext cx="4649724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Normalised association from -1 to +1; not causation.</a:t>
            </a:r>
          </a:p>
        </p:txBody>
      </p:sp>
    </p:spTree>
  </p:cSld>
  <p:transition spd="fast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Rolling windows reveal regime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Choose window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Compute rolling metric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Compare regimes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Investigate breaks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DECISION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Evidence before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pic>
        <p:nvPicPr>
          <p:cNvPr id="10" name="Picture 9" descr="python-finance-evidence-review-v1-blend-13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5943600" cy="4315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51460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8992" y="2084832"/>
            <a:ext cx="109728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1">
                <a:solidFill>
                  <a:srgbClr val="0B1F3A"/>
                </a:solidFill>
                <a:latin typeface="Arial"/>
              </a:rPr>
              <a:t>INVESTMENT RISK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6832" y="1783080"/>
            <a:ext cx="4846320" cy="987552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6832" y="1783080"/>
            <a:ext cx="73152" cy="9875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39712" y="196596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03911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1109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1856232"/>
            <a:ext cx="217627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Totals and row counts agree with source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6832" y="2880360"/>
            <a:ext cx="4846320" cy="987552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2880360"/>
            <a:ext cx="73152" cy="987552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39712" y="3063240"/>
            <a:ext cx="384048" cy="38404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13639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300837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A98A"/>
                </a:solidFill>
                <a:latin typeface="Arial"/>
              </a:rPr>
              <a:t>Stress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5672" y="2953512"/>
            <a:ext cx="217627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Results hold across boundaries and plausible scenarios.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56832" y="3977640"/>
            <a:ext cx="4846320" cy="987552"/>
          </a:xfrm>
          <a:prstGeom prst="round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56832" y="3977640"/>
            <a:ext cx="73152" cy="9875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39712" y="416052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233672"/>
            <a:ext cx="384048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105656"/>
            <a:ext cx="148132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4050792"/>
            <a:ext cx="217627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>
                <a:solidFill>
                  <a:srgbClr val="161B26"/>
                </a:solidFill>
                <a:latin typeface="Arial"/>
              </a:rPr>
              <a:t>A reviewer can trace the output back to data and assumptions.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5111496"/>
            <a:ext cx="4846320" cy="987552"/>
          </a:xfrm>
          <a:prstGeom prst="roundRect">
            <a:avLst/>
          </a:prstGeom>
          <a:solidFill>
            <a:srgbClr val="E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5230368"/>
            <a:ext cx="4443984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58A55"/>
                </a:solidFill>
                <a:latin typeface="Arial"/>
              </a:rPr>
              <a:t>DECISION /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495544"/>
            <a:ext cx="4443984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 recommendation is usable only after source totals reconcile, assumptions are stressed and material limitations are explained.</a:t>
            </a:r>
          </a:p>
        </p:txBody>
      </p:sp>
    </p:spTree>
  </p:cSld>
  <p:transition spd="fast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Pipe reads like the analytical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result = (raw.pipe(clean_data)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         .pipe(add_features)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44368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         .pipe(score_risk)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74135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74135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             .pipe(summarise))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21" name="Oval 20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4" name="Oval 23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7" name="Oval 26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30" name="Oval 29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Drawdown uses the running peak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6583680" cy="406908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84831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84831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wealth = (1 + returns).cumprod()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14600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peak = wealth.cummax()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44368"/>
            <a:ext cx="411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0FA98A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55321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6E7FF"/>
                </a:solidFill>
                <a:latin typeface="Consolas"/>
              </a:rPr>
              <a:t>drawdown = wealth / peak - 1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1828800"/>
            <a:ext cx="393192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2148840"/>
            <a:ext cx="3383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TO READ IT</a:t>
            </a:r>
          </a:p>
        </p:txBody>
      </p:sp>
      <p:sp>
        <p:nvSpPr>
          <p:cNvPr id="19" name="Oval 18"/>
          <p:cNvSpPr/>
          <p:nvPr/>
        </p:nvSpPr>
        <p:spPr>
          <a:xfrm>
            <a:off x="7845552" y="26974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761488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70048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Inputs and assumptions are visible.</a:t>
            </a:r>
          </a:p>
        </p:txBody>
      </p:sp>
      <p:sp>
        <p:nvSpPr>
          <p:cNvPr id="22" name="Oval 21"/>
          <p:cNvSpPr/>
          <p:nvPr/>
        </p:nvSpPr>
        <p:spPr>
          <a:xfrm>
            <a:off x="7845552" y="3410712"/>
            <a:ext cx="365760" cy="36576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45552" y="3474720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383280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calculation is separated from presentation.</a:t>
            </a:r>
          </a:p>
        </p:txBody>
      </p:sp>
      <p:sp>
        <p:nvSpPr>
          <p:cNvPr id="25" name="Oval 24"/>
          <p:cNvSpPr/>
          <p:nvPr/>
        </p:nvSpPr>
        <p:spPr>
          <a:xfrm>
            <a:off x="7845552" y="4123944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4187952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096512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Boundary or missing-data behaviour is explicit.</a:t>
            </a:r>
          </a:p>
        </p:txBody>
      </p:sp>
      <p:sp>
        <p:nvSpPr>
          <p:cNvPr id="28" name="Oval 27"/>
          <p:cNvSpPr/>
          <p:nvPr/>
        </p:nvSpPr>
        <p:spPr>
          <a:xfrm>
            <a:off x="7845552" y="483717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5552" y="4901184"/>
            <a:ext cx="3657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09744"/>
            <a:ext cx="26974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reviewer can test the result independently.</a:t>
            </a:r>
          </a:p>
        </p:txBody>
      </p:sp>
    </p:spTree>
  </p:cSld>
  <p:transition spd="fast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07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Rolling volatility changes across regimes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232" y="1828800"/>
          <a:ext cx="7635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41080" y="1828800"/>
            <a:ext cx="2862072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788920"/>
            <a:ext cx="2331720" cy="2011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Risk is time-varying; a single full-period volatility figure can hide regime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30368"/>
            <a:ext cx="233172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5B6372"/>
                </a:solidFill>
                <a:latin typeface="Arial"/>
              </a:rPr>
              <a:t>Annualised volatility (%)</a:t>
            </a:r>
          </a:p>
        </p:txBody>
      </p:sp>
    </p:spTree>
  </p:cSld>
  <p:transition spd="fast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WHAT YOU WILL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Hands-On Labs — Analyze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Build a Clean-to-Risk Pipeline with pipe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Analyse Statistics, Correlation and Rolling Risk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Lab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Capstone: Produce an Executive Finance Analytics Pack</a:t>
            </a:r>
          </a:p>
        </p:txBody>
      </p:sp>
    </p:spTree>
  </p:cSld>
  <p:transition spd="fast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07 · HANDS-ON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Clean-to-Risk Pipeline with pipe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pic>
        <p:nvPicPr>
          <p:cNvPr id="10" name="Picture 9" descr="python-finance-risk-pipeline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RISK PIPELINE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 credit-risk team wants the DataFrame transformations to read like an auditable sequence rather than one large notebook cell.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chain of named clean, enrich, score and summarise functions connected with pipe().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Make each transformation testable; reconcile row counts and risk bands after every stage.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Pandas, CSV, unittest  ·  Folder: labs/lab-15-*</a:t>
            </a:r>
          </a:p>
        </p:txBody>
      </p:sp>
    </p:spTree>
  </p:cSld>
  <p:transition spd="fast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15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Clean-to-Risk Pipeline with pipe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Load raw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Clean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Enrich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Summarise and test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 Clean-to-Risk Pipeline with pipe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Each stage can be tested alone, the raw DataFrame is unchanged, and the final risk-band counts reconcile to total rows.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07 · HANDS-ON · LAB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Analyse Statistics, Correlation and Rolling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949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6355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635508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portfolio risk analyst must profile returns, compare bank-stock relationships and track changing volatility over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4315968"/>
            <a:ext cx="6355080" cy="1298448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526280"/>
            <a:ext cx="58978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92040"/>
            <a:ext cx="5897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 statistics table, correlation matrix, rolling-volatility series and drawdown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783080"/>
            <a:ext cx="3566160" cy="4251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78608"/>
            <a:ext cx="29718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Pandas, NumPy, Matplotlib,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75887"/>
            <a:ext cx="2971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41648"/>
            <a:ext cx="29718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LO7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19472"/>
            <a:ext cx="297180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FD4F7"/>
                </a:solidFill>
                <a:latin typeface="Arial"/>
              </a:rPr>
              <a:t>Folder: labs/lab-16-*</a:t>
            </a:r>
          </a:p>
        </p:txBody>
      </p:sp>
    </p:spTree>
  </p:cSld>
  <p:transition spd="fast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16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Analyse Statistics, Correlation and Rolling Risk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distribution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Compare relationships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Track rolling risk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conventions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Analyse Statistics, Correlation and Rolling Risk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Correlation is symmetric with 1 on the diagonal, rolling volatility has the expected warm-up NaNs, and maximum drawdown is non-positive.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TOPIC 07 · HANDS-ON · LAB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Capstone: Produce an Executive Finance Analytics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pic>
        <p:nvPicPr>
          <p:cNvPr id="10" name="Picture 9" descr="python-finance-executive-pack-v1-blend-11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4800600" cy="42793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984248"/>
            <a:ext cx="2423160" cy="347472"/>
          </a:xfrm>
          <a:prstGeom prst="roundRect">
            <a:avLst/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2084832"/>
            <a:ext cx="109728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2066544"/>
            <a:ext cx="19659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B1F3A"/>
                </a:solidFill>
                <a:latin typeface="Arial"/>
              </a:rPr>
              <a:t>EXECUTIVE REVIEW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13832" y="1783080"/>
            <a:ext cx="5989320" cy="1298448"/>
          </a:xfrm>
          <a:prstGeom prst="round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1947672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FINANCE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267712"/>
            <a:ext cx="553212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The CFO requests a concise, reproducible evidence pack combining data quality, portfolio exposure, returns, risk and recommendations.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264408"/>
            <a:ext cx="5989320" cy="11430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447288"/>
            <a:ext cx="5532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A98A"/>
                </a:solidFill>
                <a:latin typeface="Arial"/>
              </a:rPr>
              <a:t>YOU WILL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3767328"/>
            <a:ext cx="553212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1">
                <a:solidFill>
                  <a:srgbClr val="161B26"/>
                </a:solidFill>
                <a:latin typeface="Arial"/>
              </a:rPr>
              <a:t>A self-contained HTML report, charts, curated CSVs, validation log and executive summary.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13832" y="4590288"/>
            <a:ext cx="5989320" cy="941832"/>
          </a:xfrm>
          <a:prstGeom prst="roundRect">
            <a:avLst/>
          </a:prstGeom>
          <a:solidFill>
            <a:srgbClr val="E9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4754880"/>
            <a:ext cx="960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58A55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4672584"/>
            <a:ext cx="457200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161B26"/>
                </a:solidFill>
                <a:latin typeface="Arial"/>
              </a:rPr>
              <a:t>Trace every executive conclusion to supplied data, validated calculations and reproducible outputs.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715000"/>
            <a:ext cx="5989320" cy="347472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806440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Python, Pandas, Matplotlib, HTML  ·  Folder: labs/lab-17-*</a:t>
            </a:r>
          </a:p>
        </p:txBody>
      </p:sp>
    </p:spTree>
  </p:cSld>
  <p:transition spd="fast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LAB 17 · CONCEPT MAP (DETAILED PROCEDURE IN THE LEARNER GUIDE)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Capstone: Produce an Executive Finance Analytics Pack — Analytical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Audit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 exposure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Analyse returns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Create visuals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Package and validate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58A55"/>
                </a:solidFill>
                <a:latin typeface="Arial"/>
              </a:rPr>
              <a:t>LAB 17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Capstone: Produce an Executive Finance Analytics Pack — Evidence &amp;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7315200" cy="406908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67208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58A55"/>
                </a:solidFill>
                <a:latin typeface="Arial"/>
              </a:rPr>
              <a:t>ACCEPTANCE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72084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required files exist, totals reconcile, charts have labels, the HTML report opens locally, and validate_outputs.py prints CAPSTONE PASS.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200400" cy="40690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148840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CAPTURE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321868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282696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91256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Executed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7072" y="3785615"/>
            <a:ext cx="347472" cy="347472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3849624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758184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Validation result</a:t>
            </a:r>
          </a:p>
        </p:txBody>
      </p:sp>
      <p:sp>
        <p:nvSpPr>
          <p:cNvPr id="21" name="Oval 20"/>
          <p:cNvSpPr/>
          <p:nvPr/>
        </p:nvSpPr>
        <p:spPr>
          <a:xfrm>
            <a:off x="8577072" y="4352544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416552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25112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Chart or curated file</a:t>
            </a:r>
          </a:p>
        </p:txBody>
      </p:sp>
      <p:sp>
        <p:nvSpPr>
          <p:cNvPr id="24" name="Oval 23"/>
          <p:cNvSpPr/>
          <p:nvPr/>
        </p:nvSpPr>
        <p:spPr>
          <a:xfrm>
            <a:off x="8577072" y="491947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4983480"/>
            <a:ext cx="34747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19659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Short interpretation</a:t>
            </a:r>
          </a:p>
        </p:txBody>
      </p:sp>
    </p:spTree>
  </p:cSld>
  <p:transition spd="fast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Analyze Finance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Run a function across rows or columns when vectorised operations are not practical.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apply is flexible, but not automatically fast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15, Lab 16, Lab 17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outputs and explain the finance meaning.</a:t>
            </a:r>
          </a:p>
        </p:txBody>
      </p:sp>
    </p:spTree>
  </p:cSld>
  <p:transition spd="fast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57400"/>
            <a:ext cx="109728" cy="1965960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39112"/>
            <a:ext cx="8778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97840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13632"/>
            <a:ext cx="94183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From requirement to explainable finance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transition spd="med">
    <p:push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95783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Translate finance business requirements into clear Python programming objectives and configure a reproducible development environment.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95783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Python data types and operators to represent, calculate and present financial information accurately.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2896362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2896362"/>
            <a:ext cx="73152" cy="95783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12496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7982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305181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3426714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Organise finance logic with conditional statements, loops and comprehensions to solve repeatable analytical problems.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2896362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2896362"/>
            <a:ext cx="73152" cy="95783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312496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3179826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3051810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3426714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Create reusable functions and lambda-based transformations for finance business use cases.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4055364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055364"/>
            <a:ext cx="73152" cy="95783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585716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Import, inspect, filter, slice and clean finance data with Pandas Series and DataFrames.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22492" y="4055364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22492" y="4055364"/>
            <a:ext cx="73152" cy="957834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5452" y="4585716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Join, aggregate, test and visualise finance data using groupby, pivot tables and appropriate charts.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214366"/>
            <a:ext cx="5280660" cy="95783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5214366"/>
            <a:ext cx="73152" cy="95783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" y="5442966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9783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369814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36192" y="5744718"/>
            <a:ext cx="4293108" cy="31775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Improve analytical code with apply and pipe, use descriptive statistics, and analyse changes in financial data over time.</a:t>
            </a:r>
          </a:p>
        </p:txBody>
      </p:sp>
    </p:spTree>
  </p:cSld>
  <p:transition spd="fast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A98A"/>
                </a:solidFill>
                <a:latin typeface="Arial"/>
              </a:rPr>
              <a:t>TRANSFER TO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Repeatable Standard for Your Next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Frame the decision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the data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Build clear functions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 boundaries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0FA9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Present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640080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83080"/>
            <a:ext cx="640080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1901952"/>
            <a:ext cx="146304" cy="146304"/>
          </a:xfrm>
          <a:prstGeom prst="ellipse">
            <a:avLst/>
          </a:prstGeom>
          <a:solidFill>
            <a:srgbClr val="D92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19019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1901952"/>
            <a:ext cx="146304" cy="146304"/>
          </a:xfrm>
          <a:prstGeom prst="ellipse">
            <a:avLst/>
          </a:prstGeom>
          <a:solidFill>
            <a:srgbClr val="15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64208" y="1883664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" y="2514600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62432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2587752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the course invitation or trainer-provided credentials.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3264408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37413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FA98A"/>
                </a:solidFill>
                <a:latin typeface="Arial"/>
              </a:rPr>
              <a:t>2 · OPEN COURSEWARE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37560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Choose the current Python Programming for Finance course.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" y="4014215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12394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3AED"/>
                </a:solidFill>
                <a:latin typeface="Arial"/>
              </a:rPr>
              <a:t>3 · DOWNLOAD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087368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Save the slides, Learner Guide and lab folders locally.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" y="4764024"/>
            <a:ext cx="5806440" cy="58521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873752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59E0B"/>
                </a:solidFill>
                <a:latin typeface="Arial"/>
              </a:rPr>
              <a:t>4 · ASSESS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4837176"/>
            <a:ext cx="40690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and submit the learner-facing papers only when directed.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4927" y="1783080"/>
            <a:ext cx="4078224" cy="41605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2" y="2148840"/>
            <a:ext cx="3429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761488"/>
            <a:ext cx="3337560" cy="2011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Visual course slides
• Detailed Learner Guide
• 17 self-contained lab folders
• Starter code and offline data
• Assessment papers on the LMS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5230368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u="sng">
                <a:solidFill>
                  <a:srgbClr val="1F6FEB"/>
                </a:solidFill>
                <a:latin typeface="Arial"/>
                <a:hlinkClick r:id="rId2"/>
              </a:rPr>
              <a:t>Open LMS/TMS</a:t>
            </a:r>
          </a:p>
        </p:txBody>
      </p:sp>
    </p:spTree>
  </p:cSld>
  <p:transition spd="fast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3425952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97024" y="226771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7024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WA · 60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8 open-ended knowledge questions mapped to K1–K8.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5216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5216" y="1874519"/>
            <a:ext cx="3425952" cy="109728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9008" y="2267712"/>
            <a:ext cx="658368" cy="658368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9808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PP · 60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8096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practical tasks mapped to A1–A9 and completed individually.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1874519"/>
            <a:ext cx="3425952" cy="3977639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0" y="1874519"/>
            <a:ext cx="342595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60992" y="226771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0992" y="2404872"/>
            <a:ext cx="65836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792" y="3182112"/>
            <a:ext cx="3096768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3886200"/>
            <a:ext cx="3060192" cy="1627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the two question papers on the LMS and sign the summary record.</a:t>
            </a:r>
          </a:p>
        </p:txBody>
      </p:sp>
    </p:spTree>
  </p:cSld>
  <p:transition spd="fast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98448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assessment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16936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9584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Written Assessment (WA)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48072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0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Practical Performance (PP)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31736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79208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1856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Upload papers to LMS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817620"/>
            <a:ext cx="274320" cy="0"/>
          </a:xfrm>
          <a:prstGeom prst="line">
            <a:avLst/>
          </a:prstGeom>
          <a:ln w="29209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10344" y="2103120"/>
            <a:ext cx="1883664" cy="3429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2992" y="2487168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22992" y="2624327"/>
            <a:ext cx="65836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4" y="3566160"/>
            <a:ext cx="1609344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15000"/>
            <a:ext cx="10515600" cy="384048"/>
          </a:xfrm>
          <a:prstGeom prst="round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88152"/>
            <a:ext cx="102412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The static slide contains the full sequence; trainers may reveal stages progressively.</a:t>
            </a:r>
          </a:p>
        </p:txBody>
      </p:sp>
    </p:spTree>
  </p:cSld>
  <p:transition spd="fast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37360"/>
            <a:ext cx="73152" cy="21168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Assessment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Scan the separate assessment attendance QR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2492" y="1737360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737360"/>
            <a:ext cx="73152" cy="2116836"/>
          </a:xfrm>
          <a:prstGeom prst="rect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65960"/>
            <a:ext cx="457200" cy="457200"/>
          </a:xfrm>
          <a:prstGeom prst="ellipse">
            <a:avLst/>
          </a:prstGeom>
          <a:solidFill>
            <a:srgbClr val="0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020824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1892808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5452" y="2267712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that the submission was accepted.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055364"/>
            <a:ext cx="73152" cy="21168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283964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Then assess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Begin only when instructed by the assessor.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055364"/>
            <a:ext cx="5280660" cy="2116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055364"/>
            <a:ext cx="73152" cy="21168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3660" y="42839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3660" y="4338828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210812"/>
            <a:ext cx="42931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585716"/>
            <a:ext cx="4293108" cy="14767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 the Assessment Summary Record after both instruments.</a:t>
            </a:r>
          </a:p>
        </p:txBody>
      </p:sp>
    </p:spTree>
  </p:cSld>
  <p:transition spd="fast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A98A"/>
                </a:solidFill>
                <a:latin typeface="Arial"/>
              </a:rPr>
              <a:t>WELL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00400"/>
            <a:ext cx="987552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D6E7FF"/>
                </a:solidFill>
                <a:latin typeface="Arial"/>
              </a:rPr>
              <a:t>You can now build, test and explain Python analyses for realistic finance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72200"/>
            <a:ext cx="10698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9FB4D2"/>
                </a:solidFill>
                <a:latin typeface="Arial"/>
              </a:rPr>
              <a:t>Python Programming for Finance · TGS-2026065049 · Version v1.4</a:t>
            </a:r>
          </a:p>
        </p:txBody>
      </p:sp>
    </p:spTree>
  </p:cSld>
  <p:transition spd="med">
    <p:push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93192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3564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81328"/>
            <a:ext cx="10789920" cy="2286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640080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Python Programming for Finance  ·  TGS-2026065049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73952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pic>
        <p:nvPicPr>
          <p:cNvPr id="10" name="Picture 9" descr="ref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256" y="1650492"/>
            <a:ext cx="8427183" cy="419252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13232" y="5925312"/>
            <a:ext cx="10765231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