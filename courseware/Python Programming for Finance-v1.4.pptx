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33.xml" ContentType="application/vnd.openxmlformats-officedocument.presentationml.slide+xml"/>
  <Override PartName="/ppt/slides/slide134.xml" ContentType="application/vnd.openxmlformats-officedocument.presentationml.slide+xml"/>
  <Override PartName="/ppt/slides/slide135.xml" ContentType="application/vnd.openxmlformats-officedocument.presentationml.slide+xml"/>
  <Override PartName="/ppt/slides/slide136.xml" ContentType="application/vnd.openxmlformats-officedocument.presentationml.slide+xml"/>
  <Override PartName="/ppt/slides/slide137.xml" ContentType="application/vnd.openxmlformats-officedocument.presentationml.slide+xml"/>
  <Override PartName="/ppt/slides/slide138.xml" ContentType="application/vnd.openxmlformats-officedocument.presentationml.slide+xml"/>
  <Override PartName="/ppt/slides/slide139.xml" ContentType="application/vnd.openxmlformats-officedocument.presentationml.slide+xml"/>
  <Override PartName="/ppt/slides/slide14.xml" ContentType="application/vnd.openxmlformats-officedocument.presentationml.slide+xml"/>
  <Override PartName="/ppt/slides/slide140.xml" ContentType="application/vnd.openxmlformats-officedocument.presentationml.slide+xml"/>
  <Override PartName="/ppt/slides/slide141.xml" ContentType="application/vnd.openxmlformats-officedocument.presentationml.slide+xml"/>
  <Override PartName="/ppt/slides/slide142.xml" ContentType="application/vnd.openxmlformats-officedocument.presentationml.slide+xml"/>
  <Override PartName="/ppt/slides/slide143.xml" ContentType="application/vnd.openxmlformats-officedocument.presentationml.slide+xml"/>
  <Override PartName="/ppt/slides/slide144.xml" ContentType="application/vnd.openxmlformats-officedocument.presentationml.slide+xml"/>
  <Override PartName="/ppt/slides/slide145.xml" ContentType="application/vnd.openxmlformats-officedocument.presentationml.slide+xml"/>
  <Override PartName="/ppt/slides/slide146.xml" ContentType="application/vnd.openxmlformats-officedocument.presentationml.slide+xml"/>
  <Override PartName="/ppt/slides/slide147.xml" ContentType="application/vnd.openxmlformats-officedocument.presentationml.slide+xml"/>
  <Override PartName="/ppt/slides/slide148.xml" ContentType="application/vnd.openxmlformats-officedocument.presentationml.slide+xml"/>
  <Override PartName="/ppt/slides/slide149.xml" ContentType="application/vnd.openxmlformats-officedocument.presentationml.slide+xml"/>
  <Override PartName="/ppt/slides/slide15.xml" ContentType="application/vnd.openxmlformats-officedocument.presentationml.slide+xml"/>
  <Override PartName="/ppt/slides/slide150.xml" ContentType="application/vnd.openxmlformats-officedocument.presentationml.slide+xml"/>
  <Override PartName="/ppt/slides/slide151.xml" ContentType="application/vnd.openxmlformats-officedocument.presentationml.slide+xml"/>
  <Override PartName="/ppt/slides/slide152.xml" ContentType="application/vnd.openxmlformats-officedocument.presentationml.slide+xml"/>
  <Override PartName="/ppt/slides/slide153.xml" ContentType="application/vnd.openxmlformats-officedocument.presentationml.slide+xml"/>
  <Override PartName="/ppt/slides/slide154.xml" ContentType="application/vnd.openxmlformats-officedocument.presentationml.slide+xml"/>
  <Override PartName="/ppt/slides/slide155.xml" ContentType="application/vnd.openxmlformats-officedocument.presentationml.slide+xml"/>
  <Override PartName="/ppt/slides/slide156.xml" ContentType="application/vnd.openxmlformats-officedocument.presentationml.slide+xml"/>
  <Override PartName="/ppt/slides/slide157.xml" ContentType="application/vnd.openxmlformats-officedocument.presentationml.slide+xml"/>
  <Override PartName="/ppt/slides/slide158.xml" ContentType="application/vnd.openxmlformats-officedocument.presentationml.slide+xml"/>
  <Override PartName="/ppt/slides/slide159.xml" ContentType="application/vnd.openxmlformats-officedocument.presentationml.slide+xml"/>
  <Override PartName="/ppt/slides/slide16.xml" ContentType="application/vnd.openxmlformats-officedocument.presentationml.slide+xml"/>
  <Override PartName="/ppt/slides/slide160.xml" ContentType="application/vnd.openxmlformats-officedocument.presentationml.slide+xml"/>
  <Override PartName="/ppt/slides/slide161.xml" ContentType="application/vnd.openxmlformats-officedocument.presentationml.slide+xml"/>
  <Override PartName="/ppt/slides/slide162.xml" ContentType="application/vnd.openxmlformats-officedocument.presentationml.slide+xml"/>
  <Override PartName="/ppt/slides/slide163.xml" ContentType="application/vnd.openxmlformats-officedocument.presentationml.slide+xml"/>
  <Override PartName="/ppt/slides/slide164.xml" ContentType="application/vnd.openxmlformats-officedocument.presentationml.slide+xml"/>
  <Override PartName="/ppt/slides/slide165.xml" ContentType="application/vnd.openxmlformats-officedocument.presentationml.slide+xml"/>
  <Override PartName="/ppt/slides/slide166.xml" ContentType="application/vnd.openxmlformats-officedocument.presentationml.slide+xml"/>
  <Override PartName="/ppt/slides/slide167.xml" ContentType="application/vnd.openxmlformats-officedocument.presentationml.slide+xml"/>
  <Override PartName="/ppt/slides/slide168.xml" ContentType="application/vnd.openxmlformats-officedocument.presentationml.slide+xml"/>
  <Override PartName="/ppt/slides/slide169.xml" ContentType="application/vnd.openxmlformats-officedocument.presentationml.slide+xml"/>
  <Override PartName="/ppt/slides/slide17.xml" ContentType="application/vnd.openxmlformats-officedocument.presentationml.slide+xml"/>
  <Override PartName="/ppt/slides/slide170.xml" ContentType="application/vnd.openxmlformats-officedocument.presentationml.slide+xml"/>
  <Override PartName="/ppt/slides/slide171.xml" ContentType="application/vnd.openxmlformats-officedocument.presentationml.slide+xml"/>
  <Override PartName="/ppt/slides/slide172.xml" ContentType="application/vnd.openxmlformats-officedocument.presentationml.slide+xml"/>
  <Override PartName="/ppt/slides/slide173.xml" ContentType="application/vnd.openxmlformats-officedocument.presentationml.slide+xml"/>
  <Override PartName="/ppt/slides/slide174.xml" ContentType="application/vnd.openxmlformats-officedocument.presentationml.slide+xml"/>
  <Override PartName="/ppt/slides/slide175.xml" ContentType="application/vnd.openxmlformats-officedocument.presentationml.slide+xml"/>
  <Override PartName="/ppt/slides/slide176.xml" ContentType="application/vnd.openxmlformats-officedocument.presentationml.slide+xml"/>
  <Override PartName="/ppt/slides/slide17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6" r:id="rId87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8" r:id="rId109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4" r:id="rId135"/>
    <p:sldId id="385" r:id="rId136"/>
    <p:sldId id="386" r:id="rId137"/>
    <p:sldId id="387" r:id="rId138"/>
    <p:sldId id="388" r:id="rId139"/>
    <p:sldId id="389" r:id="rId140"/>
    <p:sldId id="390" r:id="rId141"/>
    <p:sldId id="391" r:id="rId142"/>
    <p:sldId id="392" r:id="rId143"/>
    <p:sldId id="393" r:id="rId144"/>
    <p:sldId id="394" r:id="rId145"/>
    <p:sldId id="395" r:id="rId146"/>
    <p:sldId id="396" r:id="rId147"/>
    <p:sldId id="397" r:id="rId148"/>
    <p:sldId id="398" r:id="rId149"/>
    <p:sldId id="399" r:id="rId150"/>
    <p:sldId id="400" r:id="rId151"/>
    <p:sldId id="401" r:id="rId152"/>
    <p:sldId id="402" r:id="rId153"/>
    <p:sldId id="403" r:id="rId154"/>
    <p:sldId id="404" r:id="rId155"/>
    <p:sldId id="405" r:id="rId156"/>
    <p:sldId id="406" r:id="rId157"/>
    <p:sldId id="407" r:id="rId158"/>
    <p:sldId id="408" r:id="rId159"/>
    <p:sldId id="409" r:id="rId160"/>
    <p:sldId id="410" r:id="rId161"/>
    <p:sldId id="411" r:id="rId162"/>
    <p:sldId id="412" r:id="rId163"/>
    <p:sldId id="413" r:id="rId164"/>
    <p:sldId id="414" r:id="rId165"/>
    <p:sldId id="415" r:id="rId166"/>
    <p:sldId id="416" r:id="rId167"/>
    <p:sldId id="417" r:id="rId168"/>
    <p:sldId id="418" r:id="rId169"/>
    <p:sldId id="419" r:id="rId170"/>
    <p:sldId id="420" r:id="rId171"/>
    <p:sldId id="421" r:id="rId172"/>
    <p:sldId id="422" r:id="rId173"/>
    <p:sldId id="423" r:id="rId174"/>
    <p:sldId id="424" r:id="rId175"/>
    <p:sldId id="425" r:id="rId176"/>
    <p:sldId id="426" r:id="rId177"/>
    <p:sldId id="427" r:id="rId178"/>
    <p:sldId id="428" r:id="rId179"/>
    <p:sldId id="429" r:id="rId180"/>
    <p:sldId id="430" r:id="rId181"/>
    <p:sldId id="431" r:id="rId182"/>
    <p:sldId id="432" r:id="rId18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Relationship Id="rId75" Type="http://schemas.openxmlformats.org/officeDocument/2006/relationships/slide" Target="slides/slide69.xml"/><Relationship Id="rId76" Type="http://schemas.openxmlformats.org/officeDocument/2006/relationships/slide" Target="slides/slide70.xml"/><Relationship Id="rId77" Type="http://schemas.openxmlformats.org/officeDocument/2006/relationships/slide" Target="slides/slide71.xml"/><Relationship Id="rId78" Type="http://schemas.openxmlformats.org/officeDocument/2006/relationships/slide" Target="slides/slide72.xml"/><Relationship Id="rId79" Type="http://schemas.openxmlformats.org/officeDocument/2006/relationships/slide" Target="slides/slide73.xml"/><Relationship Id="rId80" Type="http://schemas.openxmlformats.org/officeDocument/2006/relationships/slide" Target="slides/slide74.xml"/><Relationship Id="rId81" Type="http://schemas.openxmlformats.org/officeDocument/2006/relationships/slide" Target="slides/slide75.xml"/><Relationship Id="rId82" Type="http://schemas.openxmlformats.org/officeDocument/2006/relationships/slide" Target="slides/slide76.xml"/><Relationship Id="rId83" Type="http://schemas.openxmlformats.org/officeDocument/2006/relationships/slide" Target="slides/slide77.xml"/><Relationship Id="rId84" Type="http://schemas.openxmlformats.org/officeDocument/2006/relationships/slide" Target="slides/slide78.xml"/><Relationship Id="rId85" Type="http://schemas.openxmlformats.org/officeDocument/2006/relationships/slide" Target="slides/slide79.xml"/><Relationship Id="rId86" Type="http://schemas.openxmlformats.org/officeDocument/2006/relationships/slide" Target="slides/slide80.xml"/><Relationship Id="rId87" Type="http://schemas.openxmlformats.org/officeDocument/2006/relationships/slide" Target="slides/slide81.xml"/><Relationship Id="rId88" Type="http://schemas.openxmlformats.org/officeDocument/2006/relationships/slide" Target="slides/slide82.xml"/><Relationship Id="rId89" Type="http://schemas.openxmlformats.org/officeDocument/2006/relationships/slide" Target="slides/slide83.xml"/><Relationship Id="rId90" Type="http://schemas.openxmlformats.org/officeDocument/2006/relationships/slide" Target="slides/slide84.xml"/><Relationship Id="rId91" Type="http://schemas.openxmlformats.org/officeDocument/2006/relationships/slide" Target="slides/slide85.xml"/><Relationship Id="rId92" Type="http://schemas.openxmlformats.org/officeDocument/2006/relationships/slide" Target="slides/slide86.xml"/><Relationship Id="rId93" Type="http://schemas.openxmlformats.org/officeDocument/2006/relationships/slide" Target="slides/slide87.xml"/><Relationship Id="rId94" Type="http://schemas.openxmlformats.org/officeDocument/2006/relationships/slide" Target="slides/slide88.xml"/><Relationship Id="rId95" Type="http://schemas.openxmlformats.org/officeDocument/2006/relationships/slide" Target="slides/slide89.xml"/><Relationship Id="rId96" Type="http://schemas.openxmlformats.org/officeDocument/2006/relationships/slide" Target="slides/slide90.xml"/><Relationship Id="rId97" Type="http://schemas.openxmlformats.org/officeDocument/2006/relationships/slide" Target="slides/slide91.xml"/><Relationship Id="rId98" Type="http://schemas.openxmlformats.org/officeDocument/2006/relationships/slide" Target="slides/slide92.xml"/><Relationship Id="rId99" Type="http://schemas.openxmlformats.org/officeDocument/2006/relationships/slide" Target="slides/slide93.xml"/><Relationship Id="rId100" Type="http://schemas.openxmlformats.org/officeDocument/2006/relationships/slide" Target="slides/slide94.xml"/><Relationship Id="rId101" Type="http://schemas.openxmlformats.org/officeDocument/2006/relationships/slide" Target="slides/slide95.xml"/><Relationship Id="rId102" Type="http://schemas.openxmlformats.org/officeDocument/2006/relationships/slide" Target="slides/slide96.xml"/><Relationship Id="rId103" Type="http://schemas.openxmlformats.org/officeDocument/2006/relationships/slide" Target="slides/slide97.xml"/><Relationship Id="rId104" Type="http://schemas.openxmlformats.org/officeDocument/2006/relationships/slide" Target="slides/slide98.xml"/><Relationship Id="rId105" Type="http://schemas.openxmlformats.org/officeDocument/2006/relationships/slide" Target="slides/slide99.xml"/><Relationship Id="rId106" Type="http://schemas.openxmlformats.org/officeDocument/2006/relationships/slide" Target="slides/slide100.xml"/><Relationship Id="rId107" Type="http://schemas.openxmlformats.org/officeDocument/2006/relationships/slide" Target="slides/slide101.xml"/><Relationship Id="rId108" Type="http://schemas.openxmlformats.org/officeDocument/2006/relationships/slide" Target="slides/slide102.xml"/><Relationship Id="rId109" Type="http://schemas.openxmlformats.org/officeDocument/2006/relationships/slide" Target="slides/slide103.xml"/><Relationship Id="rId110" Type="http://schemas.openxmlformats.org/officeDocument/2006/relationships/slide" Target="slides/slide104.xml"/><Relationship Id="rId111" Type="http://schemas.openxmlformats.org/officeDocument/2006/relationships/slide" Target="slides/slide105.xml"/><Relationship Id="rId112" Type="http://schemas.openxmlformats.org/officeDocument/2006/relationships/slide" Target="slides/slide106.xml"/><Relationship Id="rId113" Type="http://schemas.openxmlformats.org/officeDocument/2006/relationships/slide" Target="slides/slide107.xml"/><Relationship Id="rId114" Type="http://schemas.openxmlformats.org/officeDocument/2006/relationships/slide" Target="slides/slide108.xml"/><Relationship Id="rId115" Type="http://schemas.openxmlformats.org/officeDocument/2006/relationships/slide" Target="slides/slide109.xml"/><Relationship Id="rId116" Type="http://schemas.openxmlformats.org/officeDocument/2006/relationships/slide" Target="slides/slide110.xml"/><Relationship Id="rId117" Type="http://schemas.openxmlformats.org/officeDocument/2006/relationships/slide" Target="slides/slide111.xml"/><Relationship Id="rId118" Type="http://schemas.openxmlformats.org/officeDocument/2006/relationships/slide" Target="slides/slide112.xml"/><Relationship Id="rId119" Type="http://schemas.openxmlformats.org/officeDocument/2006/relationships/slide" Target="slides/slide113.xml"/><Relationship Id="rId120" Type="http://schemas.openxmlformats.org/officeDocument/2006/relationships/slide" Target="slides/slide114.xml"/><Relationship Id="rId121" Type="http://schemas.openxmlformats.org/officeDocument/2006/relationships/slide" Target="slides/slide115.xml"/><Relationship Id="rId122" Type="http://schemas.openxmlformats.org/officeDocument/2006/relationships/slide" Target="slides/slide116.xml"/><Relationship Id="rId123" Type="http://schemas.openxmlformats.org/officeDocument/2006/relationships/slide" Target="slides/slide117.xml"/><Relationship Id="rId124" Type="http://schemas.openxmlformats.org/officeDocument/2006/relationships/slide" Target="slides/slide118.xml"/><Relationship Id="rId125" Type="http://schemas.openxmlformats.org/officeDocument/2006/relationships/slide" Target="slides/slide119.xml"/><Relationship Id="rId126" Type="http://schemas.openxmlformats.org/officeDocument/2006/relationships/slide" Target="slides/slide120.xml"/><Relationship Id="rId127" Type="http://schemas.openxmlformats.org/officeDocument/2006/relationships/slide" Target="slides/slide121.xml"/><Relationship Id="rId128" Type="http://schemas.openxmlformats.org/officeDocument/2006/relationships/slide" Target="slides/slide122.xml"/><Relationship Id="rId129" Type="http://schemas.openxmlformats.org/officeDocument/2006/relationships/slide" Target="slides/slide123.xml"/><Relationship Id="rId130" Type="http://schemas.openxmlformats.org/officeDocument/2006/relationships/slide" Target="slides/slide124.xml"/><Relationship Id="rId131" Type="http://schemas.openxmlformats.org/officeDocument/2006/relationships/slide" Target="slides/slide125.xml"/><Relationship Id="rId132" Type="http://schemas.openxmlformats.org/officeDocument/2006/relationships/slide" Target="slides/slide126.xml"/><Relationship Id="rId133" Type="http://schemas.openxmlformats.org/officeDocument/2006/relationships/slide" Target="slides/slide127.xml"/><Relationship Id="rId134" Type="http://schemas.openxmlformats.org/officeDocument/2006/relationships/slide" Target="slides/slide128.xml"/><Relationship Id="rId135" Type="http://schemas.openxmlformats.org/officeDocument/2006/relationships/slide" Target="slides/slide129.xml"/><Relationship Id="rId136" Type="http://schemas.openxmlformats.org/officeDocument/2006/relationships/slide" Target="slides/slide130.xml"/><Relationship Id="rId137" Type="http://schemas.openxmlformats.org/officeDocument/2006/relationships/slide" Target="slides/slide131.xml"/><Relationship Id="rId138" Type="http://schemas.openxmlformats.org/officeDocument/2006/relationships/slide" Target="slides/slide132.xml"/><Relationship Id="rId139" Type="http://schemas.openxmlformats.org/officeDocument/2006/relationships/slide" Target="slides/slide133.xml"/><Relationship Id="rId140" Type="http://schemas.openxmlformats.org/officeDocument/2006/relationships/slide" Target="slides/slide134.xml"/><Relationship Id="rId141" Type="http://schemas.openxmlformats.org/officeDocument/2006/relationships/slide" Target="slides/slide135.xml"/><Relationship Id="rId142" Type="http://schemas.openxmlformats.org/officeDocument/2006/relationships/slide" Target="slides/slide136.xml"/><Relationship Id="rId143" Type="http://schemas.openxmlformats.org/officeDocument/2006/relationships/slide" Target="slides/slide137.xml"/><Relationship Id="rId144" Type="http://schemas.openxmlformats.org/officeDocument/2006/relationships/slide" Target="slides/slide138.xml"/><Relationship Id="rId145" Type="http://schemas.openxmlformats.org/officeDocument/2006/relationships/slide" Target="slides/slide139.xml"/><Relationship Id="rId146" Type="http://schemas.openxmlformats.org/officeDocument/2006/relationships/slide" Target="slides/slide140.xml"/><Relationship Id="rId147" Type="http://schemas.openxmlformats.org/officeDocument/2006/relationships/slide" Target="slides/slide141.xml"/><Relationship Id="rId148" Type="http://schemas.openxmlformats.org/officeDocument/2006/relationships/slide" Target="slides/slide142.xml"/><Relationship Id="rId149" Type="http://schemas.openxmlformats.org/officeDocument/2006/relationships/slide" Target="slides/slide143.xml"/><Relationship Id="rId150" Type="http://schemas.openxmlformats.org/officeDocument/2006/relationships/slide" Target="slides/slide144.xml"/><Relationship Id="rId151" Type="http://schemas.openxmlformats.org/officeDocument/2006/relationships/slide" Target="slides/slide145.xml"/><Relationship Id="rId152" Type="http://schemas.openxmlformats.org/officeDocument/2006/relationships/slide" Target="slides/slide146.xml"/><Relationship Id="rId153" Type="http://schemas.openxmlformats.org/officeDocument/2006/relationships/slide" Target="slides/slide147.xml"/><Relationship Id="rId154" Type="http://schemas.openxmlformats.org/officeDocument/2006/relationships/slide" Target="slides/slide148.xml"/><Relationship Id="rId155" Type="http://schemas.openxmlformats.org/officeDocument/2006/relationships/slide" Target="slides/slide149.xml"/><Relationship Id="rId156" Type="http://schemas.openxmlformats.org/officeDocument/2006/relationships/slide" Target="slides/slide150.xml"/><Relationship Id="rId157" Type="http://schemas.openxmlformats.org/officeDocument/2006/relationships/slide" Target="slides/slide151.xml"/><Relationship Id="rId158" Type="http://schemas.openxmlformats.org/officeDocument/2006/relationships/slide" Target="slides/slide152.xml"/><Relationship Id="rId159" Type="http://schemas.openxmlformats.org/officeDocument/2006/relationships/slide" Target="slides/slide153.xml"/><Relationship Id="rId160" Type="http://schemas.openxmlformats.org/officeDocument/2006/relationships/slide" Target="slides/slide154.xml"/><Relationship Id="rId161" Type="http://schemas.openxmlformats.org/officeDocument/2006/relationships/slide" Target="slides/slide155.xml"/><Relationship Id="rId162" Type="http://schemas.openxmlformats.org/officeDocument/2006/relationships/slide" Target="slides/slide156.xml"/><Relationship Id="rId163" Type="http://schemas.openxmlformats.org/officeDocument/2006/relationships/slide" Target="slides/slide157.xml"/><Relationship Id="rId164" Type="http://schemas.openxmlformats.org/officeDocument/2006/relationships/slide" Target="slides/slide158.xml"/><Relationship Id="rId165" Type="http://schemas.openxmlformats.org/officeDocument/2006/relationships/slide" Target="slides/slide159.xml"/><Relationship Id="rId166" Type="http://schemas.openxmlformats.org/officeDocument/2006/relationships/slide" Target="slides/slide160.xml"/><Relationship Id="rId167" Type="http://schemas.openxmlformats.org/officeDocument/2006/relationships/slide" Target="slides/slide161.xml"/><Relationship Id="rId168" Type="http://schemas.openxmlformats.org/officeDocument/2006/relationships/slide" Target="slides/slide162.xml"/><Relationship Id="rId169" Type="http://schemas.openxmlformats.org/officeDocument/2006/relationships/slide" Target="slides/slide163.xml"/><Relationship Id="rId170" Type="http://schemas.openxmlformats.org/officeDocument/2006/relationships/slide" Target="slides/slide164.xml"/><Relationship Id="rId171" Type="http://schemas.openxmlformats.org/officeDocument/2006/relationships/slide" Target="slides/slide165.xml"/><Relationship Id="rId172" Type="http://schemas.openxmlformats.org/officeDocument/2006/relationships/slide" Target="slides/slide166.xml"/><Relationship Id="rId173" Type="http://schemas.openxmlformats.org/officeDocument/2006/relationships/slide" Target="slides/slide167.xml"/><Relationship Id="rId174" Type="http://schemas.openxmlformats.org/officeDocument/2006/relationships/slide" Target="slides/slide168.xml"/><Relationship Id="rId175" Type="http://schemas.openxmlformats.org/officeDocument/2006/relationships/slide" Target="slides/slide169.xml"/><Relationship Id="rId176" Type="http://schemas.openxmlformats.org/officeDocument/2006/relationships/slide" Target="slides/slide170.xml"/><Relationship Id="rId177" Type="http://schemas.openxmlformats.org/officeDocument/2006/relationships/slide" Target="slides/slide171.xml"/><Relationship Id="rId178" Type="http://schemas.openxmlformats.org/officeDocument/2006/relationships/slide" Target="slides/slide172.xml"/><Relationship Id="rId179" Type="http://schemas.openxmlformats.org/officeDocument/2006/relationships/slide" Target="slides/slide173.xml"/><Relationship Id="rId180" Type="http://schemas.openxmlformats.org/officeDocument/2006/relationships/slide" Target="slides/slide174.xml"/><Relationship Id="rId181" Type="http://schemas.openxmlformats.org/officeDocument/2006/relationships/slide" Target="slides/slide175.xml"/><Relationship Id="rId182" Type="http://schemas.openxmlformats.org/officeDocument/2006/relationships/slide" Target="slides/slide176.xml"/><Relationship Id="rId183" Type="http://schemas.openxmlformats.org/officeDocument/2006/relationships/slide" Target="slides/slide17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capability coverage (%)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Acquire</c:v>
                </c:pt>
                <c:pt idx="1">
                  <c:v>Prepare</c:v>
                </c:pt>
                <c:pt idx="2">
                  <c:v>Analyse</c:v>
                </c:pt>
                <c:pt idx="3">
                  <c:v>Visualise</c:v>
                </c:pt>
                <c:pt idx="4">
                  <c:v>Automate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65</c:v>
                </c:pt>
                <c:pt idx="1">
                  <c:v>85</c:v>
                </c:pt>
                <c:pt idx="2">
                  <c:v>92</c:v>
                </c:pt>
                <c:pt idx="3">
                  <c:v>80</c:v>
                </c:pt>
                <c:pt idx="4">
                  <c:v>72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savings balance (SGD '000)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Sheet1!$A$2:$A$5</c:f>
              <c:strCache>
                <c:ptCount val="4"/>
                <c:pt idx="0">
                  <c:v>Year 5</c:v>
                </c:pt>
                <c:pt idx="1">
                  <c:v>Year 10</c:v>
                </c:pt>
                <c:pt idx="2">
                  <c:v>Year 20</c:v>
                </c:pt>
                <c:pt idx="3">
                  <c:v>Year 30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68</c:v>
                </c:pt>
                <c:pt idx="1">
                  <c:v>155</c:v>
                </c:pt>
                <c:pt idx="2">
                  <c:v>420</c:v>
                </c:pt>
                <c:pt idx="3">
                  <c:v>815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Recommended test cases by class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Sheet1!$A$2:$A$6</c:f>
              <c:strCache>
                <c:ptCount val="5"/>
                <c:pt idx="0">
                  <c:v>Typical</c:v>
                </c:pt>
                <c:pt idx="1">
                  <c:v>Below boundary</c:v>
                </c:pt>
                <c:pt idx="2">
                  <c:v>At boundary</c:v>
                </c:pt>
                <c:pt idx="3">
                  <c:v>Above boundary</c:v>
                </c:pt>
                <c:pt idx="4">
                  <c:v>Invalid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</c:v>
                </c:pt>
                <c:pt idx="1">
                  <c:v>4</c:v>
                </c:pt>
                <c:pt idx="2">
                  <c:v>6</c:v>
                </c:pt>
                <c:pt idx="3">
                  <c:v>4</c:v>
                </c:pt>
                <c:pt idx="4">
                  <c:v>3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Duplicate calculation blocks found</c:v>
                </c:pt>
              </c:strCache>
            </c:strRef>
          </c:tx>
          <c:spPr>
            <a:solidFill>
              <a:srgbClr val="F59E0B"/>
            </a:solidFill>
            <a:ln>
              <a:solidFill>
                <a:srgbClr val="F59E0B"/>
              </a:solidFill>
            </a:ln>
          </c:spPr>
          <c:cat>
            <c:strRef>
              <c:f>Sheet1!$A$2:$A$5</c:f>
              <c:strCache>
                <c:ptCount val="4"/>
                <c:pt idx="0">
                  <c:v>Month 1</c:v>
                </c:pt>
                <c:pt idx="1">
                  <c:v>Month 2</c:v>
                </c:pt>
                <c:pt idx="2">
                  <c:v>Month 3</c:v>
                </c:pt>
                <c:pt idx="3">
                  <c:v>Month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14</c:v>
                </c:pt>
                <c:pt idx="1">
                  <c:v>9</c:v>
                </c:pt>
                <c:pt idx="2">
                  <c:v>6</c:v>
                </c:pt>
                <c:pt idx="3">
                  <c:v>4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Exceptions detected</c:v>
                </c:pt>
              </c:strCache>
            </c:strRef>
          </c:tx>
          <c:spPr>
            <a:solidFill>
              <a:srgbClr val="1F6FEB"/>
            </a:solidFill>
            <a:ln>
              <a:solidFill>
                <a:srgbClr val="1F6FEB"/>
              </a:solidFill>
            </a:ln>
          </c:spPr>
          <c:cat>
            <c:strRef>
              <c:f>Sheet1!$A$2:$A$6</c:f>
              <c:strCache>
                <c:ptCount val="5"/>
                <c:pt idx="0">
                  <c:v>Missing</c:v>
                </c:pt>
                <c:pt idx="1">
                  <c:v>Duplicate</c:v>
                </c:pt>
                <c:pt idx="2">
                  <c:v>Invalid range</c:v>
                </c:pt>
                <c:pt idx="3">
                  <c:v>Bad type</c:v>
                </c:pt>
                <c:pt idx="4">
                  <c:v>Unmatched key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</c:v>
                </c:pt>
                <c:pt idx="1">
                  <c:v>4</c:v>
                </c:pt>
                <c:pt idx="2">
                  <c:v>3</c:v>
                </c:pt>
                <c:pt idx="3">
                  <c:v>6</c:v>
                </c:pt>
                <c:pt idx="4">
                  <c:v>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Illustrative monthly return (%)</c:v>
                </c:pt>
              </c:strCache>
            </c:strRef>
          </c:tx>
          <c:spPr>
            <a:solidFill>
              <a:srgbClr val="0FA98A"/>
            </a:solidFill>
            <a:ln>
              <a:solidFill>
                <a:srgbClr val="0FA98A"/>
              </a:solidFill>
            </a:ln>
          </c:spPr>
          <c:cat>
            <c:strRef>
              <c:f>Sheet1!$A$2:$A$7</c:f>
              <c:strCache>
                <c:ptCount val="6"/>
                <c:pt idx="0">
                  <c:v>Jan</c:v>
                </c:pt>
                <c:pt idx="1">
                  <c:v>Feb</c:v>
                </c:pt>
                <c:pt idx="2">
                  <c:v>Mar</c:v>
                </c:pt>
                <c:pt idx="3">
                  <c:v>Apr</c:v>
                </c:pt>
                <c:pt idx="4">
                  <c:v>May</c:v>
                </c:pt>
                <c:pt idx="5">
                  <c:v>Jun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1.8</c:v>
                </c:pt>
                <c:pt idx="1">
                  <c:v>-2.4</c:v>
                </c:pt>
                <c:pt idx="2">
                  <c:v>3.1</c:v>
                </c:pt>
                <c:pt idx="3">
                  <c:v>0.6</c:v>
                </c:pt>
                <c:pt idx="4">
                  <c:v>-1.5</c:v>
                </c:pt>
                <c:pt idx="5">
                  <c:v>2.7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Annualised volatility (%)</c:v>
                </c:pt>
              </c:strCache>
            </c:strRef>
          </c:tx>
          <c:spPr>
            <a:solidFill>
              <a:srgbClr val="7C3AED"/>
            </a:solidFill>
            <a:ln>
              <a:solidFill>
                <a:srgbClr val="7C3AED"/>
              </a:solidFill>
            </a:ln>
          </c:spPr>
          <c:cat>
            <c:strRef>
              <c:f>Sheet1!$A$2:$A$7</c:f>
              <c:strCache>
                <c:ptCount val="6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12</c:v>
                </c:pt>
                <c:pt idx="1">
                  <c:v>14</c:v>
                </c:pt>
                <c:pt idx="2">
                  <c:v>21</c:v>
                </c:pt>
                <c:pt idx="3">
                  <c:v>28</c:v>
                </c:pt>
                <c:pt idx="4">
                  <c:v>18</c:v>
                </c:pt>
                <c:pt idx="5">
                  <c:v>16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1000">
                <a:latin typeface="Arial"/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DCE3EC"/>
              </a:solidFill>
            </a:ln>
          </c:spPr>
        </c:majorGridlines>
        <c:majorTickMark val="out"/>
        <c:minorTickMark val="none"/>
        <c:tickLblPos val="nextTo"/>
        <c:txPr>
          <a:bodyPr/>
          <a:lstStyle/>
          <a:p>
            <a:pPr>
              <a:defRPr sz="900">
                <a:latin typeface="Arial"/>
              </a:defRPr>
            </a:pPr>
          </a:p>
        </c:txPr>
        <c:crossAx val="2118791784"/>
        <c:crosses val="autoZero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github.com/tertiarycourses/TGS-2026065049-Python-Programming-for-Finance" TargetMode="Externa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openai.github.io/openai-agents-python/running_agents/" TargetMode="Externa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3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4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6.xml"/></Relationships>
</file>

<file path=ppt/slides/_rels/slide1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1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lms-tms.tertiaryinfotech.com/" TargetMode="External"/></Relationships>
</file>

<file path=ppt/slides/_rels/slide1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ython-finance-cover-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583680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" name="Picture 3" descr="photo-fade-white-dow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5392" y="0"/>
            <a:ext cx="749808" cy="6858000"/>
          </a:xfrm>
          <a:prstGeom prst="rect">
            <a:avLst/>
          </a:prstGeom>
        </p:spPr>
      </p:pic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8368" y="457200"/>
            <a:ext cx="640080" cy="64008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" y="1417320"/>
            <a:ext cx="530352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SLIDES  ·  WSQ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847088"/>
            <a:ext cx="539496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400" b="1">
                <a:solidFill>
                  <a:srgbClr val="0B1F3A"/>
                </a:solidFill>
                <a:latin typeface="Arial"/>
              </a:rPr>
              <a:t>Python Programming for Finance</a:t>
            </a:r>
          </a:p>
        </p:txBody>
      </p:sp>
      <p:sp>
        <p:nvSpPr>
          <p:cNvPr id="8" name="Rectangle 7"/>
          <p:cNvSpPr/>
          <p:nvPr/>
        </p:nvSpPr>
        <p:spPr>
          <a:xfrm>
            <a:off x="685800" y="3401568"/>
            <a:ext cx="1371600" cy="640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3657600"/>
            <a:ext cx="539496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Course Code: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187952"/>
            <a:ext cx="539496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3 days · 24 hours · Hands-on financial analytics
Conducted by Tertiary Infotech Academy Pte Ltd · UEN 201200696W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" y="5715000"/>
            <a:ext cx="530352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Version v1.4 · 24 August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6181344"/>
            <a:ext cx="53035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</p:spTree>
  </p:cSld>
  <p:transition spd="fast">
    <p:fade/>
  </p:transition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3 days · 24 hours · finance-focused Python practice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transition spd="med">
    <p:push/>
  </p:transition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AM attendance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TRAQOM/SSG QR code at the start of each day.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PM attendance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second attendance window when directed.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attendance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Take the separate digital attendance before the assessment.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Eligibility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At least 75% attendance and competency in all assessments are required.</a:t>
            </a:r>
          </a:p>
        </p:txBody>
      </p:sp>
    </p:spTree>
  </p:cSld>
  <p:transition spd="fast">
    <p:fade/>
  </p:transition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General Trainer template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NAME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TITLE / DESIGNATION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QUALIFICATIONS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AREAS OF EXPERTISE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TRAINING EXPERIENCE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370832" y="58978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4370832" y="589788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99432" y="59984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CONTACT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062472" y="59893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________________</a:t>
            </a:r>
          </a:p>
        </p:txBody>
      </p:sp>
    </p:spTree>
  </p:cSld>
  <p:transition spd="fast">
    <p:fade/>
  </p:transition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3383280" cy="4279392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600200" y="2286000"/>
            <a:ext cx="1600200" cy="1600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00200" y="2679192"/>
            <a:ext cx="160020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36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251960"/>
            <a:ext cx="2880360" cy="4572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9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4846320"/>
            <a:ext cx="288036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Principal Trainer · Tertiary Infotech Academy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70832" y="178308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70832" y="178308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99432" y="188366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ROLE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62472" y="187452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Founder and Managing Director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0832" y="260604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70832" y="2606040"/>
            <a:ext cx="73152" cy="69494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99432" y="270662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QUALIFICATIONS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062472" y="269748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PhD, MEng and MBA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370832" y="342900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4370832" y="3429000"/>
            <a:ext cx="73152" cy="6949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9432" y="352958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EXPERIENCE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062472" y="352044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25+ years in IT, AI and financial systems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70832" y="425196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370832" y="4251960"/>
            <a:ext cx="73152" cy="6949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9432" y="435254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DELIVERS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062472" y="434340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Accredited data, AI and programming programmes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4370832" y="5074920"/>
            <a:ext cx="7132320" cy="69494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370832" y="5074920"/>
            <a:ext cx="73152" cy="6949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599432" y="5175504"/>
            <a:ext cx="15544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FOCUS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062472" y="5166360"/>
            <a:ext cx="507492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161B26"/>
                </a:solidFill>
                <a:latin typeface="Arial"/>
              </a:rPr>
              <a:t>Applied analytics and accountable automation</a:t>
            </a:r>
          </a:p>
        </p:txBody>
      </p:sp>
    </p:spTree>
  </p:cSld>
  <p:transition spd="fast">
    <p:fade/>
  </p:transition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Let’s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You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Name, organisation and role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Experience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Python, Excel or data analysis experience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task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report or decision you want to improve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Success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What a useful result looks like after three days</a:t>
            </a:r>
          </a:p>
        </p:txBody>
      </p:sp>
    </p:spTree>
  </p:cSld>
  <p:transition spd="fast">
    <p:fade/>
  </p:transition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Participate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Ask questions and share relevant experience.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Respect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conversation at a time; disagree constructively.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Protect data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supplied or authorised finance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Be punctual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 from breaks and lunch on time.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not trust output only because it looks plausible.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Help peers explain decisions, not copy answers.</a:t>
            </a:r>
          </a:p>
        </p:txBody>
      </p:sp>
    </p:spTree>
  </p:cSld>
  <p:transition spd="fast">
    <p:fade/>
  </p:transition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Lesson Plan — 3 Days, 24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28800"/>
            <a:ext cx="338328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1832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1–3
• Labs 1–6
• Python and finance logic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41832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9:00 AM – 6:00 PM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19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89119" y="1828800"/>
            <a:ext cx="338328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26279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7719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773167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4–5
• Labs 7–11
• Functions and data preparation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17719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9:00 AM – 6:00 PM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65006" y="1828800"/>
            <a:ext cx="3383280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65006" y="1828800"/>
            <a:ext cx="3383280" cy="5303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02166" y="1975104"/>
            <a:ext cx="31089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>
                <a:solidFill>
                  <a:srgbClr val="FFFFFF"/>
                </a:solidFill>
                <a:latin typeface="Arial"/>
              </a:rPr>
              <a:t>DAY 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93606" y="2697480"/>
            <a:ext cx="292608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49054" y="3703320"/>
            <a:ext cx="2606040" cy="12344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0">
                <a:solidFill>
                  <a:srgbClr val="5B6372"/>
                </a:solidFill>
                <a:latin typeface="Arial"/>
              </a:rPr>
              <a:t>• Topics 6–7
• Labs 12–17
• 2-hour final assessment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93606" y="5285232"/>
            <a:ext cx="29260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9:00 AM – 6:00 PM</a:t>
            </a:r>
          </a:p>
        </p:txBody>
      </p:sp>
    </p:spTree>
  </p:cSld>
  <p:transition spd="fast">
    <p:fade/>
  </p:transition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WHAT YOU WILL ACHIEVE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Learning Outcomes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BEFORE YOU START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Briefing for 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Individual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papers independently.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Open book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approved course materials only.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3282696"/>
            <a:ext cx="73152" cy="134416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51129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Show calculations, code and requested outputs.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3282696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3282696"/>
            <a:ext cx="73152" cy="1344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511296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56616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43814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Conduct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813048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No discussion, photos or recording.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828032"/>
            <a:ext cx="73152" cy="1344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5056632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Upload completed question papers on the LMS.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828032"/>
            <a:ext cx="5280660" cy="1344168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828032"/>
            <a:ext cx="73152" cy="134416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5056632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511149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98348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Sign-off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5358384"/>
            <a:ext cx="4293108" cy="70408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FINAL ASSESSMENT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short-answer questions covering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covering A1–A9 and aligned to Labs 1, 13 and 14.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Competency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Both instruments are open book; demonstrate correct, explainable work.</a:t>
            </a:r>
          </a:p>
        </p:txBody>
      </p:sp>
    </p:spTree>
  </p:cSld>
  <p:transition spd="fast">
    <p:fade/>
  </p:transition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LEARNER RESOURCES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10789920" cy="91440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029968"/>
            <a:ext cx="1037844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 u="sng">
                <a:solidFill>
                  <a:srgbClr val="FFFFFF"/>
                </a:solidFill>
                <a:latin typeface="Arial"/>
                <a:hlinkClick r:id="rId2"/>
              </a:rPr>
              <a:t>https://github.com/tertiarycourses/TGS-2026065049-Python-Programming-for-Finance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3127248"/>
            <a:ext cx="10287000" cy="114300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Each lab folder is self-contained: README, PDF guide, starter.py, solution.py, tests and the data needed to run offline.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4773168"/>
            <a:ext cx="10287000" cy="6400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Detailed click-by-click procedures are in the Learner Guide and lab README—not in the concept-led slide deck.</a:t>
            </a:r>
          </a:p>
        </p:txBody>
      </p:sp>
    </p:spTree>
  </p:cSld>
  <p:transition spd="fast">
    <p:fade/>
  </p:transition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TWO WAYS TO GET THE PUBLIC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Access the Hands-On Labs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A · Clone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 clone https://github.com/tertiarycourses/TGS-2026065049-Python-Programming-for-Finance.git
Keeps the folder structure and makes updates easy.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Option B · Download 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GitHub → Code → Download ZIP
Extract it locally before opening a lab folder.</a:t>
            </a:r>
          </a:p>
        </p:txBody>
      </p:sp>
    </p:spTree>
  </p:cSld>
  <p:transition spd="fast">
    <p:fade/>
  </p:transition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CORE CONCEPTS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Python, Data and Decisions in Finance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 controlled analytical workflow from requirement to evidence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transition spd="med">
    <p:push/>
  </p:transition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USE CASES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Where Python Creates Value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  <p:pic>
        <p:nvPicPr>
          <p:cNvPr id="10" name="Picture 9" descr="python-finance-use-cases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PYTHON AT WORK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74980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Market + portfolio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Acquire prices; calculate value, weights, returns and risk.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633472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633472"/>
            <a:ext cx="73152" cy="74980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2816352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2889504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2761488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Credit decisions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706624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Encode affordability, segmentation and review thresholds.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483864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483864"/>
            <a:ext cx="73152" cy="74980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3666744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3739896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3611880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Reporting + controls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3557016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Automate tables and charts; reconcile inputs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4334256"/>
            <a:ext cx="4846320" cy="749808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656832" y="4334256"/>
            <a:ext cx="73152" cy="74980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839712" y="4517136"/>
            <a:ext cx="384048" cy="38404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839712" y="4590288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70064" y="4462272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F59E0B"/>
                </a:solidFill>
                <a:latin typeface="Arial"/>
              </a:rPr>
              <a:t>Rapid prototyping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05672" y="4407408"/>
            <a:ext cx="2176272" cy="62179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Turn an analytical idea into tested, reviewable Python logic.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6656832" y="5221224"/>
            <a:ext cx="4846320" cy="877824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858000" y="5340096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858000" y="5605272"/>
            <a:ext cx="4443984" cy="42062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speeds up the analytical chain; validated data, reconciliations and accountable review make the result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CORE CONCEPTS · AI-ASSISTED FINANCE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Generative AI vs Agentic AI: Different Units of Work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  <p:sp>
        <p:nvSpPr>
          <p:cNvPr id="10" name="Rectangle 9"/>
          <p:cNvSpPr/>
          <p:nvPr/>
        </p:nvSpPr>
        <p:spPr>
          <a:xfrm>
            <a:off x="713232" y="1783080"/>
            <a:ext cx="2057400" cy="475488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1911096"/>
            <a:ext cx="183794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COMPARE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70632" y="1783080"/>
            <a:ext cx="4224528" cy="4754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880360" y="1911096"/>
            <a:ext cx="4005072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GENERATIVE AI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995160" y="1783080"/>
            <a:ext cx="4507992" cy="4754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04888" y="1911096"/>
            <a:ext cx="4288536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120" b="1">
                <a:solidFill>
                  <a:srgbClr val="FFFFFF"/>
                </a:solidFill>
                <a:latin typeface="Arial"/>
              </a:rPr>
              <a:t>AGENTIC AI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13232" y="2258568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313432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Unit of work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770632" y="2258568"/>
            <a:ext cx="4224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880360" y="2313432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A prompt plus supplied context.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995160" y="2258568"/>
            <a:ext cx="45079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04888" y="2313432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A goal plus constraints and success criteria.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13232" y="2697480"/>
            <a:ext cx="20574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" y="2752344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Run pattern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70632" y="2697480"/>
            <a:ext cx="4224528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880360" y="2752344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One or a few model responses produce a candidate output.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995160" y="2697480"/>
            <a:ext cx="4507992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04888" y="2752344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Plan → use tools → observe → evaluate; repeat until done or stopped.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" y="3136392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22960" y="3191256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Tools and action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770632" y="3136392"/>
            <a:ext cx="4224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880360" y="3191256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May suggest code or analysis; a person usually executes it.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995160" y="3136392"/>
            <a:ext cx="45079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04888" y="3191256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Invokes permitted Python functions, data sources, APIs or workflow actions.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13232" y="3575304"/>
            <a:ext cx="20574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2960" y="3630168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State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770632" y="3575304"/>
            <a:ext cx="4224528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80360" y="3630168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Often limited to the request or conversation context.</a:t>
            </a:r>
          </a:p>
        </p:txBody>
      </p:sp>
      <p:sp>
        <p:nvSpPr>
          <p:cNvPr id="38" name="Rectangle 37"/>
          <p:cNvSpPr/>
          <p:nvPr/>
        </p:nvSpPr>
        <p:spPr>
          <a:xfrm>
            <a:off x="6995160" y="3575304"/>
            <a:ext cx="4507992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04888" y="3630168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Maintains task state and checkpoints across multiple steps when engineered.</a:t>
            </a:r>
          </a:p>
        </p:txBody>
      </p:sp>
      <p:sp>
        <p:nvSpPr>
          <p:cNvPr id="40" name="Rectangle 39"/>
          <p:cNvSpPr/>
          <p:nvPr/>
        </p:nvSpPr>
        <p:spPr>
          <a:xfrm>
            <a:off x="713232" y="4014216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22960" y="4069080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Completion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770632" y="4014216"/>
            <a:ext cx="4224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2880360" y="4069080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A draft, summary, explanation or code suggestion is ready for review.</a:t>
            </a:r>
          </a:p>
        </p:txBody>
      </p:sp>
      <p:sp>
        <p:nvSpPr>
          <p:cNvPr id="44" name="Rectangle 43"/>
          <p:cNvSpPr/>
          <p:nvPr/>
        </p:nvSpPr>
        <p:spPr>
          <a:xfrm>
            <a:off x="6995160" y="4014216"/>
            <a:ext cx="45079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04888" y="4069080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The objective passes checks, or an exception is routed with evidence.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13232" y="4453128"/>
            <a:ext cx="2057400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22960" y="4507992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Human responsibility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770632" y="4453128"/>
            <a:ext cx="4224528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2880360" y="4507992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Validate the content, then decide and act.</a:t>
            </a:r>
          </a:p>
        </p:txBody>
      </p:sp>
      <p:sp>
        <p:nvSpPr>
          <p:cNvPr id="50" name="Rectangle 49"/>
          <p:cNvSpPr/>
          <p:nvPr/>
        </p:nvSpPr>
        <p:spPr>
          <a:xfrm>
            <a:off x="6995160" y="4453128"/>
            <a:ext cx="4507992" cy="438912"/>
          </a:xfrm>
          <a:prstGeom prst="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104888" y="4507992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Set permissions and policies; approve material actions and exceptions.</a:t>
            </a:r>
          </a:p>
        </p:txBody>
      </p:sp>
      <p:sp>
        <p:nvSpPr>
          <p:cNvPr id="52" name="Rectangle 51"/>
          <p:cNvSpPr/>
          <p:nvPr/>
        </p:nvSpPr>
        <p:spPr>
          <a:xfrm>
            <a:off x="713232" y="4892040"/>
            <a:ext cx="205740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822960" y="4946904"/>
            <a:ext cx="1837944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90" b="1">
                <a:solidFill>
                  <a:srgbClr val="0B1F3A"/>
                </a:solidFill>
                <a:latin typeface="Arial"/>
              </a:rPr>
              <a:t>Primary risk</a:t>
            </a:r>
          </a:p>
        </p:txBody>
      </p:sp>
      <p:sp>
        <p:nvSpPr>
          <p:cNvPr id="54" name="Rectangle 53"/>
          <p:cNvSpPr/>
          <p:nvPr/>
        </p:nvSpPr>
        <p:spPr>
          <a:xfrm>
            <a:off x="2770632" y="4892040"/>
            <a:ext cx="4224528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2880360" y="4946904"/>
            <a:ext cx="4005072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Plausible but unsupported content or code.</a:t>
            </a:r>
          </a:p>
        </p:txBody>
      </p:sp>
      <p:sp>
        <p:nvSpPr>
          <p:cNvPr id="56" name="Rectangle 55"/>
          <p:cNvSpPr/>
          <p:nvPr/>
        </p:nvSpPr>
        <p:spPr>
          <a:xfrm>
            <a:off x="6995160" y="4892040"/>
            <a:ext cx="4507992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104888" y="4946904"/>
            <a:ext cx="4288536" cy="34747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An error or unauthorised action can propagate through connected tools.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713232" y="5440680"/>
            <a:ext cx="10789920" cy="475488"/>
          </a:xfrm>
          <a:prstGeom prst="roundRect">
            <a:avLst/>
          </a:prstGeom>
          <a:solidFill>
            <a:srgbClr val="EDF8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896112" y="5513832"/>
            <a:ext cx="10424160" cy="31089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69" b="1">
                <a:solidFill>
                  <a:srgbClr val="0B1F3A"/>
                </a:solidFill>
                <a:latin typeface="Arial"/>
              </a:rPr>
              <a:t>Finance example · Generative AI drafts variance commentary from supplied tables. Agentic AI can retrieve approved data, run Python checks, investigate exceptions, attach evidence and route the pack for approval.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749808" y="6199632"/>
            <a:ext cx="49377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750" b="0" u="sng">
                <a:solidFill>
                  <a:srgbClr val="5B6372"/>
                </a:solidFill>
                <a:latin typeface="Arial"/>
                <a:hlinkClick r:id="rId2"/>
              </a:rPr>
              <a:t>Source: OpenAI Agents SDK · Agents and agent loop</a:t>
            </a:r>
          </a:p>
        </p:txBody>
      </p:sp>
    </p:spTree>
  </p:cSld>
  <p:transition spd="fast">
    <p:fade/>
  </p:transition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CORE CONCEPTS · FINANCE OPERATING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Value of Agentic AI Is Controlled Workflow Closure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46520" cy="4297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41832" y="1965960"/>
            <a:ext cx="598932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F6FEB"/>
                </a:solidFill>
                <a:latin typeface="Arial"/>
              </a:rPr>
              <a:t>MONTHLY VARIANCE PACK · EXECUTION TRACE</a:t>
            </a:r>
          </a:p>
        </p:txBody>
      </p:sp>
      <p:sp>
        <p:nvSpPr>
          <p:cNvPr id="12" name="Oval 11"/>
          <p:cNvSpPr/>
          <p:nvPr/>
        </p:nvSpPr>
        <p:spPr>
          <a:xfrm>
            <a:off x="941832" y="2450592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41832" y="2523744"/>
            <a:ext cx="402336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490472" y="2395728"/>
            <a:ext cx="544068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73352" y="2478024"/>
            <a:ext cx="1325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</a:rPr>
              <a:t>GOAL + POLICY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26080" y="2450592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Define the reporting period, materiality rule and allowed data sources.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1143000" y="2907792"/>
            <a:ext cx="0" cy="128016"/>
          </a:xfrm>
          <a:prstGeom prst="line">
            <a:avLst/>
          </a:prstGeom>
          <a:ln w="22860">
            <a:solidFill>
              <a:srgbClr val="DCE3E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941832" y="3108960"/>
            <a:ext cx="402336" cy="402336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41832" y="3182112"/>
            <a:ext cx="402336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490472" y="3054096"/>
            <a:ext cx="544068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673352" y="3136392"/>
            <a:ext cx="1325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0FA98A"/>
                </a:solidFill>
                <a:latin typeface="Arial"/>
              </a:rPr>
              <a:t>RETRIEVE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926080" y="3108960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Read the approved general-ledger and budget extracts.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143000" y="3566160"/>
            <a:ext cx="0" cy="128016"/>
          </a:xfrm>
          <a:prstGeom prst="line">
            <a:avLst/>
          </a:prstGeom>
          <a:ln w="22860">
            <a:solidFill>
              <a:srgbClr val="DCE3E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941832" y="3767328"/>
            <a:ext cx="402336" cy="402336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1832" y="3840480"/>
            <a:ext cx="402336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490472" y="3712464"/>
            <a:ext cx="544068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673352" y="3794760"/>
            <a:ext cx="1325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7C3AED"/>
                </a:solidFill>
                <a:latin typeface="Arial"/>
              </a:rPr>
              <a:t>RECONCILE IN PYTHON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926080" y="3767328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Match entities and accounts; stop if totals or row counts fail.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1143000" y="4224528"/>
            <a:ext cx="0" cy="128016"/>
          </a:xfrm>
          <a:prstGeom prst="line">
            <a:avLst/>
          </a:prstGeom>
          <a:ln w="22860">
            <a:solidFill>
              <a:srgbClr val="DCE3E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Oval 29"/>
          <p:cNvSpPr/>
          <p:nvPr/>
        </p:nvSpPr>
        <p:spPr>
          <a:xfrm>
            <a:off x="941832" y="4425696"/>
            <a:ext cx="402336" cy="402336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41832" y="4498848"/>
            <a:ext cx="402336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490472" y="4370832"/>
            <a:ext cx="544068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673352" y="4453128"/>
            <a:ext cx="1325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F59E0B"/>
                </a:solidFill>
                <a:latin typeface="Arial"/>
              </a:rPr>
              <a:t>INVESTIGATE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926080" y="4425696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Calculate material variances and attach source evidence.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1143000" y="4882896"/>
            <a:ext cx="0" cy="128016"/>
          </a:xfrm>
          <a:prstGeom prst="line">
            <a:avLst/>
          </a:prstGeom>
          <a:ln w="22860">
            <a:solidFill>
              <a:srgbClr val="DCE3EC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6" name="Oval 35"/>
          <p:cNvSpPr/>
          <p:nvPr/>
        </p:nvSpPr>
        <p:spPr>
          <a:xfrm>
            <a:off x="941832" y="5084064"/>
            <a:ext cx="402336" cy="402336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41832" y="5157216"/>
            <a:ext cx="402336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5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490472" y="5029200"/>
            <a:ext cx="5440680" cy="51206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1673352" y="5111496"/>
            <a:ext cx="13258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19" b="1">
                <a:solidFill>
                  <a:srgbClr val="1F6FEB"/>
                </a:solidFill>
                <a:latin typeface="Arial"/>
              </a:rPr>
              <a:t>APPROVE + PUBLISH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926080" y="5084064"/>
            <a:ext cx="3840480" cy="38404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Route the draft to an accountable reviewer before release.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941832" y="5669280"/>
            <a:ext cx="5989320" cy="274320"/>
          </a:xfrm>
          <a:prstGeom prst="roundRect">
            <a:avLst/>
          </a:prstGeom>
          <a:solidFill>
            <a:srgbClr val="FDF3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78992" y="5733288"/>
            <a:ext cx="5715000" cy="137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F59E0B"/>
                </a:solidFill>
                <a:latin typeface="Arial"/>
              </a:rPr>
              <a:t>STOP RULE · No publication when reconciliation fails or approval is missing.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434072" y="1965960"/>
            <a:ext cx="40233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0FA98A"/>
                </a:solidFill>
                <a:latin typeface="Arial"/>
              </a:rPr>
              <a:t>VALUE LEVER · MEASURE IT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7388352" y="2395728"/>
            <a:ext cx="4114800" cy="731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388352" y="2395728"/>
            <a:ext cx="73152" cy="7315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616952" y="2505456"/>
            <a:ext cx="12984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1F6FEB"/>
                </a:solidFill>
                <a:latin typeface="Arial"/>
              </a:rPr>
              <a:t>CYCLE TIME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897112" y="2468880"/>
            <a:ext cx="23774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Measure end-to-end elapsed time, including waits and retries.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388352" y="3255264"/>
            <a:ext cx="4114800" cy="731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7388352" y="3255264"/>
            <a:ext cx="73152" cy="73152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7616952" y="3364992"/>
            <a:ext cx="12984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0FA98A"/>
                </a:solidFill>
                <a:latin typeface="Arial"/>
              </a:rPr>
              <a:t>COVERAGE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897112" y="3328416"/>
            <a:ext cx="23774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Measure the percentage of entities and records checked each run.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7388352" y="4114800"/>
            <a:ext cx="4114800" cy="731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7388352" y="4114800"/>
            <a:ext cx="73152" cy="7315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7616952" y="4224528"/>
            <a:ext cx="12984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7C3AED"/>
                </a:solidFill>
                <a:latin typeface="Arial"/>
              </a:rPr>
              <a:t>CONTROL CONSISTENCY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897112" y="4187952"/>
            <a:ext cx="23774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Measure runs completing every mandatory reconciliation.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7388352" y="4974336"/>
            <a:ext cx="4114800" cy="731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7388352" y="4974336"/>
            <a:ext cx="73152" cy="73152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7616952" y="5084064"/>
            <a:ext cx="1298448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40" b="1">
                <a:solidFill>
                  <a:srgbClr val="F59E0B"/>
                </a:solidFill>
                <a:latin typeface="Arial"/>
              </a:rPr>
              <a:t>HUMAN LEVERAGE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8897112" y="5047488"/>
            <a:ext cx="2377440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69" b="0">
                <a:solidFill>
                  <a:srgbClr val="161B26"/>
                </a:solidFill>
                <a:latin typeface="Arial"/>
              </a:rPr>
              <a:t>Measure analyst time redirected to exceptions and judgement.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7388352" y="5833871"/>
            <a:ext cx="4114800" cy="246888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534656" y="5888736"/>
            <a:ext cx="3822192" cy="12801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790" b="1">
                <a:solidFill>
                  <a:srgbClr val="158A55"/>
                </a:solidFill>
                <a:latin typeface="Arial"/>
              </a:rPr>
              <a:t>Value is valid only inside permissions, checks and human accountability.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749808" y="6199632"/>
            <a:ext cx="868680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730" b="0">
                <a:solidFill>
                  <a:srgbClr val="5B6372"/>
                </a:solidFill>
                <a:latin typeface="Arial"/>
              </a:rPr>
              <a:t>Sources: OpenAI Agents SDK; NIST AI RMF Playbook</a:t>
            </a:r>
          </a:p>
        </p:txBody>
      </p:sp>
    </p:spTree>
  </p:cSld>
  <p:transition spd="fast">
    <p:fade/>
  </p:transition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END-TO-END METHOD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Controlled Finance Analytics Lifecycle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Business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Data and assumptions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Code and tests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Analytical evidence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Decision and review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CONTROL FRAMEWORK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Four Controls on Every Result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Completeness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Did all expected rows, periods and instruments arrive?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Validity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Are types, ranges and categories defensible?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Accuracy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Do known examples and reconciliations match?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Explainability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Can another person trace data, assumptions and formulas?</a:t>
            </a:r>
          </a:p>
        </p:txBody>
      </p:sp>
    </p:spTree>
  </p:cSld>
  <p:transition spd="fast">
    <p:fade/>
  </p:transition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Python foundations and finance logic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transition spd="med">
    <p:push/>
  </p:transition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DAY 1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1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Introduction to Python Programming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Business requirements · finance use cases · environment · first script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transition spd="med">
    <p:push/>
  </p:transition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LO1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Business first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Finance fit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Python connects market data, calculations, visualisation, automation and AI in one ecosystem.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Reproducibility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locked environment makes analytical results easier to review, repeat and audit.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Accountability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analyst remains responsible for validating inputs, formulas, assumptions and outputs.</a:t>
            </a:r>
          </a:p>
        </p:txBody>
      </p:sp>
    </p:spTree>
  </p:cSld>
  <p:transition spd="fast">
    <p:fade/>
  </p:transition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FINANCE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  <p:pic>
        <p:nvPicPr>
          <p:cNvPr id="10" name="Picture 9" descr="python-finance-business-to-code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REQUIREMENT TO CODE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Analysis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Pandas and NumPy turn tables and time series into repeatable calculations.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88036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Automation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Scripts remove manual copy-and-paste from recurring reports.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97764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Decision support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Charts, statistics and rules surface trends, risk and exceptions.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5111496"/>
            <a:ext cx="4846320" cy="987552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230368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95544"/>
            <a:ext cx="444398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Python creates value when a finance requirement becomes transparent code, testable calculations and reviewable evidence.</a:t>
            </a:r>
          </a:p>
        </p:txBody>
      </p:sp>
    </p:spTree>
  </p:cSld>
  <p:transition spd="fast">
    <p:fade/>
  </p:transition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From a business requirement to working code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inputs and rules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Design the output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a small test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Finance coding risk: plausible is not correct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Looks plausible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chart renders and totals appear reasonable.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Is validated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Inputs reconcile, formulas are tested, edge cases are handled and results are explainable.</a:t>
            </a:r>
          </a:p>
        </p:txBody>
      </p:sp>
    </p:spTree>
  </p:cSld>
  <p:transition spd="fast">
    <p:fade/>
  </p:transition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Choosing a Python workspace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Google Colab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browser start; easy sharing; cloud session.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VS Code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Local files, extensions, debugger and source control.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JupyterLab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Exploration with narrative, code and charts together.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uv project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Fast dependency management and reproducible environments.</a:t>
            </a:r>
          </a:p>
        </p:txBody>
      </p:sp>
    </p:spTree>
  </p:cSld>
  <p:transition spd="fast">
    <p:fade/>
  </p:transition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anatomy of a finance script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Configuration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or save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Acceptance criteria make results testable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Correctness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Known inputs produce expected outputs.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Resilience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Missing or invalid data is handled safely.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Usability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Output is clear, labelled and decision-ready.</a:t>
            </a:r>
          </a:p>
        </p:txBody>
      </p:sp>
    </p:spTree>
  </p:cSld>
  <p:transition spd="fast">
    <p:fade/>
  </p:transition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requirement becomes a test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requirement = {'ticker':'D05.SI', 'currency':'SGD'}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accept = 'five prices, 2 decimals, no crash on empty data'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Guard the empty-data case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prices.empty: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{'status': 'NO DATA', 'rows': 0}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return {'status': 'OK', 'rows': len(prices)}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01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Python connects the finance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Python supports the full analytical chain; controls and validation sit across every stage.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capability coverage (%)</a:t>
            </a:r>
          </a:p>
        </p:txBody>
      </p:sp>
    </p:spTree>
  </p:cSld>
  <p:transition spd="fast">
    <p:fade/>
  </p:transition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a Finance Requirement into an SGX Price Tool</a:t>
            </a:r>
          </a:p>
        </p:txBody>
      </p:sp>
    </p:spTree>
  </p:cSld>
  <p:transition spd="fast">
    <p:fade/>
  </p:transition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analytics team needs every learner to run the same package versions and verify the environment before analysing SGX data.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verified Python project with an environment check and dependency record.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 3, uv or venv, Pandas, Matplotlib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 / A1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labs/lab-01-*</a:t>
            </a:r>
          </a:p>
        </p:txBody>
      </p:sp>
    </p:spTree>
  </p:cSld>
  <p:transition spd="fast">
    <p:fade/>
  </p:transition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requirement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environment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Install packages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checks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Set Up a Reproducible Finance Project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script prints the Python, Pandas, NumPy and Matplotlib versions and ends with ENVIRONMENT READY.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01 · HANDS-ON · LAB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wealth desk wants a repeatable daily price summary for a small basket of Singapore-listed equities.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requirement canvas, acceptance tests and an offline-safe SGX price summary script.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CSV, optional yfinance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labs/lab-02-*</a:t>
            </a:r>
          </a:p>
        </p:txBody>
      </p:sp>
    </p:spTree>
  </p:cSld>
  <p:transition spd="fast">
    <p:fade/>
  </p:transition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Clarify need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acceptance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data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Format report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exceptions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Translate a Finance Requirement into an SGX Price Tool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report prints five labelled SGX prices to two decimals, handles an invalid ticker without crashing, and all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Introduction to Python Programming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Define the decision, users, data, output and acceptance criteria before writing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Why Python Is Used in Finance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1, Lab 2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Data Types and Operators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Numbers · strings · lists · tuples · dictionaries · sets · operators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transition spd="med">
    <p:push/>
  </p:transition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LO2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Numbers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Strings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Clean labels, identifiers, dates and report text before matching or presenting them.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Collections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Lists, tuples, dictionaries and sets organise positions, identifiers and attributes.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Operators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Arithmetic, comparison and logical operators encode calculations and decisions.</a:t>
            </a:r>
          </a:p>
        </p:txBody>
      </p:sp>
    </p:spTree>
  </p:cSld>
  <p:transition spd="fast">
    <p:fade/>
  </p:transition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float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Fast and common for analytics; binary representation can create tiny rounding artefacts.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Decimal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Base-10 arithmetic suited to currency rules where exact decimal behaviour matters.</a:t>
            </a:r>
          </a:p>
        </p:txBody>
      </p:sp>
    </p:spTree>
  </p:cSld>
  <p:transition spd="fast">
    <p:fade/>
  </p:transition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Formatting values for decision-makers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Currency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Thousands separators and two decimal places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Percentage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Multiply ratio by 100 and label the unit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Basis points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One basis point equals 0.01 percentage point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Large values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K, M or B only when the scale stays explicit</a:t>
            </a:r>
          </a:p>
        </p:txBody>
      </p:sp>
    </p:spTree>
  </p:cSld>
  <p:transition spd="fast">
    <p:fade/>
  </p:transition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Collection choice is a design decision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Ordered, mutable sequence of prices or positions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tuple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Fixed instrument identifier or multiple return values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dict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Ticker-to-price or named financial attributes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set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Unique holdings and portfolio overlap</a:t>
            </a:r>
          </a:p>
        </p:txBody>
      </p:sp>
    </p:spTree>
  </p:cSld>
  <p:transition spd="fast">
    <p:fade/>
  </p:transition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Operator families in finance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Arithmetic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+ - * / ** % for value, return, growth and allocation.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Comparison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Threshold rules such as ROE &gt; 10 or PE &lt;= 20.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Logical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Combine conditions with and, or and not.</a:t>
            </a:r>
          </a:p>
        </p:txBody>
      </p:sp>
    </p:spTree>
  </p:cSld>
  <p:transition spd="fast">
    <p:fade/>
  </p:transition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Safe calculation patterns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type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denominator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Round for display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Retain full precision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 structures shape downstream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Row-oriented records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list of dictionaries is readable and converts naturally to a DataFrame.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Parallel lists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Easy to start, but alignment errors grow as fields are added.</a:t>
            </a:r>
          </a:p>
        </p:txBody>
      </p:sp>
    </p:spTree>
  </p:cSld>
  <p:transition spd="fast">
    <p:fade/>
  </p:transition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Currency formatting keeps units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12_487_650.75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print(f'SGD {value:,.2f}')  # SGD 12,487,650.75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dictionary makes attributes explicit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holding = {'ticker':'D05.SI', 'shares':120, 'price':38.42}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value = holding['shares'] * holding['price']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Compounding separates contribution from growth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Compounding becomes dominant over longer horizons; assumptions should remain visible.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savings balance (SGD '000)</a:t>
            </a:r>
          </a:p>
        </p:txBody>
      </p:sp>
    </p:spTree>
  </p:cSld>
  <p:transition spd="fast">
    <p:fade/>
  </p:transition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Model a Portfolio with Python Collections</a:t>
            </a:r>
          </a:p>
        </p:txBody>
      </p:sp>
    </p:spTree>
  </p:cSld>
  <p:transition spd="fast">
    <p:fade/>
  </p:transition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  <p:pic>
        <p:nvPicPr>
          <p:cNvPr id="10" name="Picture 9" descr="python-finance-loan-amortisation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LOAN MODELLING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relationship manager needs a transparent monthly-instalment calculation including the zero-interest staff-loan case.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loan calculator with monthly payment, total repayment and total interest.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Reconcile principal, interest and ending balance; test zero-rate and boundary inputs.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math, csv  ·  Folder: labs/lab-03-*</a:t>
            </a:r>
          </a:p>
        </p:txBody>
      </p:sp>
    </p:spTree>
  </p:cSld>
  <p:transition spd="fast">
    <p:fade/>
  </p:transition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terms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Convert rate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payment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Handle zero rate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Verify known case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Loan Amortisation Calculator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For $500,000 at 2.6% over 25 years, payment is about $2,268.35; a 0% loan returns principal divided by months.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02 · HANDS-ON · LAB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team needs a clean in-memory representation of holdings, identifiers, sector groups and prices.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portfolio report using list, tuple, dictionary and set operations.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labs/lab-04-*</a:t>
            </a:r>
          </a:p>
        </p:txBody>
      </p:sp>
    </p:spTree>
  </p:cSld>
  <p:transition spd="fast">
    <p:fade/>
  </p:transition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collections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Find overlap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weights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Model a Portfolio with Python Collections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Every holding has a market value, portfolio weights sum to 100%, and the overlap set is reported without duplicates.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Data Types and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int for counts and float or Decimal for measured financial values.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Financial numbers: precision and scale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3, Lab 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Problem Solving with Control Structures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If/elif/else · loops · range · enumerate · zip · comprehensions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transition spd="med">
    <p:push/>
  </p:transition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LO3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Branching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Iteration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loops to apply the same logic to positions, periods or scenarios.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Loop control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break stops a search; continue skips an invalid record without ending the run.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Comprehensions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a transformed collection concisely when the rule remains readable.</a:t>
            </a:r>
          </a:p>
        </p:txBody>
      </p:sp>
    </p:spTree>
  </p:cSld>
  <p:transition spd="fast">
    <p:fade/>
  </p:transition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metric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range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Evaluate highest-priority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Assign band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Explain outcome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conditions matter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Ambiguous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PE &lt; 15 is BUY and PE &gt; 25 is SELL—but what happens at 15 and 25?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Explicit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Define inclusive boundaries and test exactly below, at and above each threshold.</a:t>
            </a:r>
          </a:p>
        </p:txBody>
      </p:sp>
    </p:spTree>
  </p:cSld>
  <p:transition spd="fast">
    <p:fade/>
  </p:transition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For loops over a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Take one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Look up price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market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 total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Store result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enumerate and zip improve clarity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enumerate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Adds a stable row number while iterating.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zip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Pairs aligned sequences such as tickers and quantities.</a:t>
            </a:r>
          </a:p>
        </p:txBody>
      </p:sp>
    </p:spTree>
  </p:cSld>
  <p:transition spd="fast">
    <p:fade/>
  </p:transition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break and continue are control signals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break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Stop after the required match or a risk limit breach.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continue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Skip a malformed record and log why it was excluded.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else on loop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Run only when the loop finishes without break.</a:t>
            </a:r>
          </a:p>
        </p:txBody>
      </p:sp>
    </p:spTree>
  </p:cSld>
  <p:transition spd="fast">
    <p:fade/>
  </p:transition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Comprehension or loop?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Simple transform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Comprehension is concise and expressive.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Multiple branches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normal loop is easier to review.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Side effects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a loop; do not hide I/O in a comprehension.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Audit trail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Prefer clarity and intermediate variables.</a:t>
            </a:r>
          </a:p>
        </p:txBody>
      </p:sp>
    </p:spTree>
  </p:cSld>
  <p:transition spd="fast">
    <p:fade/>
  </p:transition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Thresholds need exact boundaries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if pe &lt; 15: label = 'BUY'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elif pe &lt;= 25: label = 'HOLD'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else: label = 'REVIEW'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readable comprehension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overweight = [h['ticker'] for h in holdings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if h['weight'] &gt; 0.20]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03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Boundary tests concentrate around thresholds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More tests belong at decision boundaries than in routine middle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Recommended test cases by class</a:t>
            </a:r>
          </a:p>
        </p:txBody>
      </p:sp>
    </p:spTree>
  </p:cSld>
  <p:transition spd="fast">
    <p:fade/>
  </p:transition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Loop Through a Portfolio and Build Comprehensions</a:t>
            </a:r>
          </a:p>
        </p:txBody>
      </p:sp>
    </p:spTree>
  </p:cSld>
  <p:transition spd="fast">
    <p:fade/>
  </p:transition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  <p:pic>
        <p:nvPicPr>
          <p:cNvPr id="10" name="Picture 9" descr="python-finance-valuation-policy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VALUATION RULE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An equity screen must classify securities consistently at defined PE and ROE thresholds.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boundary-tested BUY/HOLD/REVIEW valuation classifier.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Apply PE and ROE boundaries explicitly, including exact thresholds and missing metrics.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unittest  ·  Folder: labs/lab-05-*</a:t>
            </a:r>
          </a:p>
        </p:txBody>
      </p:sp>
    </p:spTree>
  </p:cSld>
  <p:transition spd="fast">
    <p:fade/>
  </p:transition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policy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Order conditions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Classify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rules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boundaries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Encode PE and ROE Valuation Rules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exact-boundary tests pass and each recommendation includes the rule that produced it.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03 · HANDS-ON · LAB 06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analyst needs valuations for every valid position while malformed records are logged and excluded.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reconciled holdings table, exception log and concise list/dict comprehensions.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labs/lab-06-*</a:t>
            </a:r>
          </a:p>
        </p:txBody>
      </p:sp>
    </p:spTree>
  </p:cSld>
  <p:transition spd="fast">
    <p:fade/>
  </p:transition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Read holding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value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Accumulate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Loop Through a Portfolio and Build Comprehensions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invalid row is logged once, valid positions reconcile to the portfolio total, and comprehension results match the loop results.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Problem Solving with Control Structures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if/elif/else when a finance rule selects one outcome from alternatives.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Turn policy thresholds into explicit branches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5, Lab 6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Reusable code and Pandas data preparation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transition spd="med">
    <p:push/>
  </p:transition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DAY 2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2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Scripting with Functions and Lambda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Functions · parameters · return values · scope · lambda · map · filter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transition spd="med">
    <p:push/>
  </p:transition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LO4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Single purpose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Inputs and outputs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Parameters make assumptions visible; return values keep computation separate from display.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Well-named functions reduce repeated formulas and inconsistent fixes.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Lambda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small anonymous functions for short transformations, not complex business rules.</a:t>
            </a:r>
          </a:p>
        </p:txBody>
      </p:sp>
    </p:spTree>
  </p:cSld>
  <p:transition spd="fast">
    <p:fade/>
  </p:transition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Name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parameters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assumptions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a stable type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Document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Parameters communicate intent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Positional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Compact when the order is obvious.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Keyword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Clearer for rates, periods and optional settings.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Default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Useful only when a defensible standard exists.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Variable arguments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Appropriate for flexible aggregation, used carefully.</a:t>
            </a:r>
          </a:p>
        </p:txBody>
      </p:sp>
    </p:spTree>
  </p:cSld>
  <p:transition spd="fast">
    <p:fade/>
  </p:transition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calculations; print presentation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Return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The result can be tested, reused, stored or charted.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Print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Creates display output but is difficult to compose into another calculation.</a:t>
            </a:r>
          </a:p>
        </p:txBody>
      </p:sp>
    </p:spTree>
  </p:cSld>
  <p:transition spd="fast">
    <p:fade/>
  </p:transition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Start with records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with map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Select with filter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Materialise result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F59E0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count and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Readable functions beat clever one-liners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Named function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multi-step logic, validation, documentation and tests.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Lambda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Best for one short expression close to where it is used.</a:t>
            </a:r>
          </a:p>
        </p:txBody>
      </p:sp>
    </p:spTree>
  </p:cSld>
  <p:transition spd="fast">
    <p:fade/>
  </p:transition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Unit tests protect recurring reports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Typical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representative input produces the known value.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Boundary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Zero, exactly-at-threshold and extreme values behave correctly.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Invalid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Bad inputs fail safely with a useful message.</a:t>
            </a:r>
          </a:p>
        </p:txBody>
      </p:sp>
    </p:spTree>
  </p:cSld>
  <p:transition spd="fast">
    <p:fade/>
  </p:transition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 values keep logic reusable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def roe(net_income, avg_equity):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return None if avg_equity == 0 else net_income / avg_equity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Lambda stays small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high_dti = filter(lambda row: row['dti'] &gt; 0.45, applicants)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manual_review = list(high_dti)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04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Reusable functions reduce duplicate formulas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Centralising formulas reduces inconsistent fixes and review effort.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Duplicate calculation blocks found</a:t>
            </a:r>
          </a:p>
        </p:txBody>
      </p:sp>
    </p:spTree>
  </p:cSld>
  <p:transition spd="fast">
    <p:fade/>
  </p:transition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44348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443484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443484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08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794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Screen Customers with Lambda, Map and Filter</a:t>
            </a:r>
          </a:p>
        </p:txBody>
      </p:sp>
    </p:spTree>
  </p:cSld>
  <p:transition spd="fast">
    <p:fade/>
  </p:transition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bank reporting team calculates margin, ROE and ROA in several reports and needs one tested implementation.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ratios module returning named results with validation and tests.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Python, dataclasses, unittest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labs/lab-07-*</a:t>
            </a:r>
          </a:p>
        </p:txBody>
      </p:sp>
    </p:spTree>
  </p:cSld>
  <p:transition spd="fast">
    <p:fade/>
  </p:transition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contract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inputs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ratios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Return names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edge cases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Create Reusable Financial Ratio Functions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sample produces margin about 55.95%, ROE about 18.09% and ROA about 1.53%; tests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04 · HANDS-ON · LAB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  <p:pic>
        <p:nvPicPr>
          <p:cNvPr id="10" name="Picture 9" descr="python-finance-credit-screening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CREDIT SCREENING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retail bank wants to transform customer income into affordability ratios and filter applications for manual review.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readable transformation pipeline plus an equivalent named-function implementation.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Keep segmentation rules reviewable and record every applicant routed to manual review.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csv, unittest  ·  Folder: labs/lab-08-*</a:t>
            </a:r>
          </a:p>
        </p:txBody>
      </p:sp>
    </p:spTree>
  </p:cSld>
  <p:transition spd="fast">
    <p:fade/>
  </p:transition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08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applicants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Transform income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risk rule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Filter cases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implementations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Screen Customers with Lambda, Map and Filter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Lambda and named-function pipelines select the same applicant IDs, and counts reconcile to the input.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F59E0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Scripting with Functions and Lambda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function should perform one understandable analytical responsibility.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Designing a finance function contract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7, Lab 8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Import and Process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Pandas · Series · DataFrame · import · filter · slice · clean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transition spd="med">
    <p:push/>
  </p:transition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LO5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Series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DataFrame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table of rows and columns suitable for finance records and time series.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Selection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labels and conditions deliberately with loc, iloc and boolean masks.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Data quality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Missing, duplicate, invalid and inconsistent values must be measured before analysis.</a:t>
            </a:r>
          </a:p>
        </p:txBody>
      </p:sp>
    </p:spTree>
  </p:cSld>
  <p:transition spd="fast">
    <p:fade/>
  </p:transition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finance data pipeline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Inspect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Save curated data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Series and DataFrame mental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Series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named measure plus an index.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DataFrame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Aligned Series sharing a row index.</a:t>
            </a:r>
          </a:p>
        </p:txBody>
      </p:sp>
    </p:spTree>
  </p:cSld>
  <p:transition spd="fast">
    <p:fade/>
  </p:transition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defensively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CSV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Specify dates, dtypes and missing-value tokens where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Excel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the intended sheet and confirm header rows.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Handle empty responses, rate limits and changing fields.</a:t>
            </a:r>
          </a:p>
        </p:txBody>
      </p:sp>
    </p:spTree>
  </p:cSld>
  <p:transition spd="fast">
    <p:fade/>
  </p:transition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loc and iloc answer different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label or boolean condition; endpoints are label-inclusive.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iloc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Select by integer position; upper bound is excluded like normal slicing.</a:t>
            </a:r>
          </a:p>
        </p:txBody>
      </p:sp>
    </p:spTree>
  </p:cSld>
  <p:transition spd="fast">
    <p:fade/>
  </p:transition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Missing data is a business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Drop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 when incomplete rows cannot support the decision.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Fixed fill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only when zero or another constant has business meaning.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Forward fill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Carries the last observed value; risky across long gaps.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Impute/model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Requires assumptions that must be documented and tested.</a:t>
            </a:r>
          </a:p>
        </p:txBody>
      </p:sp>
    </p:spTree>
  </p:cSld>
  <p:transition spd="fast">
    <p:fade/>
  </p:transition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Data-quality controls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Count rows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uniqueness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Measure missingness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Test ranges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1F6FEB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Log exclusions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Inspect before transforming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df = pd.read_csv('prices.csv', parse_dates=['Date'])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print(df.shape, df.dtypes, df.isna().sum())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Label selection states the business rule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banks = portfolio.loc[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(portfolio['Sector'] == 'Bank') &amp; (portfolio['Value'] &gt; 100_000)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]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05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data audit makes defects visible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Profiling defects before cleaning creates a defensible reconciliation.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Exceptions detected</a:t>
            </a:r>
          </a:p>
        </p:txBody>
      </p:sp>
    </p:spTree>
  </p:cSld>
  <p:transition spd="fast">
    <p:fade/>
  </p:transition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09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11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Finance Data-Quality Audit</a:t>
            </a:r>
          </a:p>
        </p:txBody>
      </p:sp>
    </p:spTree>
  </p:cSld>
  <p:transition spd="fast">
    <p:fade/>
  </p:transition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09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treasury extract contains duplicated dates, missing prices and inconsistent date/value types.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curated price DataFrame and a written data-quality reconciliation.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labs/lab-09-*</a:t>
            </a:r>
          </a:p>
        </p:txBody>
      </p:sp>
    </p:spTree>
  </p:cSld>
  <p:transition spd="fast">
    <p:fade/>
  </p:transition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09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Import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Standardise types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Resolve defects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and save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09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Import and Clean a Finance DataFrame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curated file has unique sorted dates, numeric prices, no missing Close values, and a reconciliation from raw to clean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manager asks for bank-sector positions above a materiality threshold and a date-windowed price series.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filtered positions file and labelled versus positional slice comparison.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labs/lab-10-*</a:t>
            </a:r>
          </a:p>
        </p:txBody>
      </p:sp>
    </p:spTree>
  </p:cSld>
  <p:transition spd="fast">
    <p:fade/>
  </p:transition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10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population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mask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labels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Slice positions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rows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Filter and Slice Finance Data Safely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filter returns only qualifying bank positions; loc and iloc row counts match their documented boundary rules.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05 · HANDS-ON ·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120</a:t>
            </a:r>
          </a:p>
        </p:txBody>
      </p:sp>
      <p:pic>
        <p:nvPicPr>
          <p:cNvPr id="10" name="Picture 9" descr="python-finance-data-audit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DATA-QUALITY AUDIT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 portfolio extract must pass completeness, uniqueness, range and reconciliation controls before modelling.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reusable audit function and exception report for loan records.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Fail the run when row counts, unique IDs, ranges or reconciled totals breach agreed controls.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JSON  ·  Folder: labs/lab-11-*</a:t>
            </a:r>
          </a:p>
        </p:txBody>
      </p:sp>
    </p:spTree>
  </p:cSld>
  <p:transition spd="fast">
    <p:fade/>
  </p:transition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11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Define controls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completeness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Run validity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Capture exceptions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summary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Run a Finance Data-Quality Audit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audit identifies every planted defect, produces machine-readable counts and leaves the raw file unchanged.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Import and Process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 labelled one-dimensional array, such as closing prices indexed by date.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The finance data pipeline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9, Lab 10, Lab 11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START OF DAY 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Day 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Aggregation, visualisation and financial analysis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124</a:t>
            </a:r>
          </a:p>
        </p:txBody>
      </p:sp>
    </p:spTree>
  </p:cSld>
  <p:transition spd="med">
    <p:push/>
  </p:transition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DAY 3 · ORIENTATION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Day 3 Learning Route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Reconnect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Review the previous day’s evidence and open questions.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the mental model before touching the code.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finance scenarios and offline-safe data.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Reconcile results and explain what they mean.</a:t>
            </a:r>
          </a:p>
        </p:txBody>
      </p:sp>
    </p:spTree>
  </p:cSld>
  <p:transition spd="fast">
    <p:fade/>
  </p:transition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Aggregate and Visualize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concat · merge · groupby · pivot table · returns · charts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126</a:t>
            </a:r>
          </a:p>
        </p:txBody>
      </p:sp>
    </p:spTree>
  </p:cSld>
  <p:transition spd="med">
    <p:push/>
  </p:transition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LO6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Combine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groupby splits records, applies calculations and combines results.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Reshape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Pivot tables summarise a measure across two or more dimensions.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Visualise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Choose a chart that matches the analytical question and label units clearly.</a:t>
            </a:r>
          </a:p>
        </p:txBody>
      </p:sp>
    </p:spTree>
  </p:cSld>
  <p:transition spd="fast">
    <p:fade/>
  </p:transition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concat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Append periods or place aligned series side by side.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merge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Join facts and reference data by a validated key.</a:t>
            </a:r>
          </a:p>
        </p:txBody>
      </p:sp>
    </p:spTree>
  </p:cSld>
  <p:transition spd="fast">
    <p:fade/>
  </p:transition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every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129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join type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with indicator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Check row counts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unmatched keys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The split-apply-combine model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Split by group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Apply metrics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Combine summary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Rename columns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Reconcile totals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Pivot tables answer cross-dimensional questions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Index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Rows, such as sector.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Columns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Categories, such as risk band.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Values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Measure, such as exposure.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aggfunc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How duplicates are summarised.</a:t>
            </a:r>
          </a:p>
        </p:txBody>
      </p:sp>
    </p:spTree>
  </p:cSld>
  <p:transition spd="fast">
    <p:fade/>
  </p:transition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Choose the chart for the question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Trend or comparison through time.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Bar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Compare categories.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Scatter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Relationship between two measures.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Histogram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unusual observations.</a:t>
            </a:r>
          </a:p>
        </p:txBody>
      </p:sp>
    </p:spTree>
  </p:cSld>
  <p:transition spd="fast">
    <p:fade/>
  </p:transition>
  <p:clrMapOvr>
    <a:masterClrMapping/>
  </p:clrMapOvr>
</p:sld>
</file>

<file path=ppt/slides/slide1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CONCEPT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chart is an analytical claim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Context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State date range, currency, population and data source.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Scale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Use honest axes and visible units.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Takeaway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Explain what changed, why it matters and what to check next.</a:t>
            </a:r>
          </a:p>
        </p:txBody>
      </p:sp>
    </p:spTree>
  </p:cSld>
  <p:transition spd="fast">
    <p:fade/>
  </p:transition>
  <p:clrMapOvr>
    <a:masterClrMapping/>
  </p:clrMapOvr>
</p:sld>
</file>

<file path=ppt/slides/slide1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Validate the merge relationship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merged = apps.merge(sectors, on='Sector_Code',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       how='left', validate='many_to_one', indicator=True)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turn price levels into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prices['Daily_Return'] = prices['Close'].pct_change()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vol = prices['Daily_Return'].std() * (252 ** 0.5)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7" name="Oval 16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0" name="Oval 19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3" name="Oval 22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6" name="Oval 25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Returns reveal risk hidden by price levels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136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A smooth price path can still contain volatile returns and tail observations.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Illustrative monthly return (%)</a:t>
            </a:r>
          </a:p>
        </p:txBody>
      </p:sp>
    </p:spTree>
  </p:cSld>
  <p:transition spd="fast">
    <p:fade/>
  </p:transition>
  <p:clrMapOvr>
    <a:masterClrMapping/>
  </p:clrMapOvr>
</p:sld>
</file>

<file path=ppt/slides/slide1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Moving-Average Technical Analysis</a:t>
            </a:r>
          </a:p>
        </p:txBody>
      </p:sp>
    </p:spTree>
  </p:cSld>
  <p:transition spd="fast">
    <p:fade/>
  </p:transition>
  <p:clrMapOvr>
    <a:masterClrMapping/>
  </p:clrMapOvr>
</p:sld>
</file>

<file path=ppt/slides/slide1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138</a:t>
            </a:r>
          </a:p>
        </p:txBody>
      </p:sp>
      <p:pic>
        <p:nvPicPr>
          <p:cNvPr id="10" name="Picture 9" descr="python-finance-loan-portfolio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PORTFOLIO RISK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risk team needs exposure and approval metrics by sector, region and risk band from separate application and reference tables.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validated merge, groupby summary and pivot table exported to CSV.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Validate the merge relationship, unmatched keys and reconciled totals before trusting the pivot.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  ·  Folder: labs/lab-12-*</a:t>
            </a:r>
          </a:p>
        </p:txBody>
      </p:sp>
    </p:spTree>
  </p:cSld>
  <p:transition spd="fast">
    <p:fade/>
  </p:transition>
  <p:clrMapOvr>
    <a:masterClrMapping/>
  </p:clrMapOvr>
</p:sld>
</file>

<file path=ppt/slides/slide1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12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139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keys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Merge explicitly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Review matches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Aggregate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Pivot and reconcile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Join, Group and Pivot a Loan Portfolio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No unexpected many-to-many join occurs, unmatched keys are reported, and summary exposure totals equal the source.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An investment committee wants to understand daily price changes and the distribution of returns for DBS.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return series, line chart and histogram with labelled analytical takeaways.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LO6 / A4 / A5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labs/lab-13-*</a:t>
            </a:r>
          </a:p>
        </p:txBody>
      </p:sp>
    </p:spTree>
  </p:cSld>
  <p:transition spd="fast">
    <p:fade/>
  </p:transition>
  <p:clrMapOvr>
    <a:masterClrMapping/>
  </p:clrMapOvr>
</p:sld>
</file>

<file path=ppt/slides/slide1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13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prices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NaN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time series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distribution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Visualize Daily Returns and Distribution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returns.csv has one fewer non-null row than prices; charts render; summary statistics match Pandas calculations.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06 · HANDS-ON · LAB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144</a:t>
            </a:r>
          </a:p>
        </p:txBody>
      </p:sp>
      <p:pic>
        <p:nvPicPr>
          <p:cNvPr id="10" name="Picture 9" descr="python-finance-technical-analysis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TECHNICAL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quantitative analyst needs an OHLC view and 10/50-day moving averages with objectively detected crossover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An offline-safe technical-analysis report with OHLC, moving averages and crossover evidence.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Use one price basis, verify both moving-average windows and label only detected crossovers.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Matplotlib, optional yfinance  ·  Folder: labs/lab-14-*</a:t>
            </a:r>
          </a:p>
        </p:txBody>
      </p:sp>
    </p:spTree>
  </p:cSld>
  <p:transition spd="fast">
    <p:fade/>
  </p:transition>
  <p:clrMapOvr>
    <a:masterClrMapping/>
  </p:clrMapOvr>
</p:sld>
</file>

<file path=ppt/slides/slide1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14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Acquire OHLC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schema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averages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Detect crossover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Plot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Moving-Average Technical Analysis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output contains OHLC rows, MA10/MA50 values, at least one crossover date, and a labelled chart; the offline file always works.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Aggregate and Visualize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stacks compatible data; merge joins tables using explicit keys.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concat and merge solve different problems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12, Lab 13, Lab 14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Analyze Finance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apply · pipe · statistics · correlation · rolling analysis · change tracking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509760" y="502920"/>
            <a:ext cx="2011680" cy="10515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6000" b="1">
                <a:solidFill>
                  <a:srgbClr val="DCE3EC"/>
                </a:solidFill>
                <a:latin typeface="Arial"/>
              </a:rPr>
              <a:t>07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148</a:t>
            </a:r>
          </a:p>
        </p:txBody>
      </p:sp>
    </p:spTree>
  </p:cSld>
  <p:transition spd="med">
    <p:push/>
  </p:transition>
  <p:clrMapOvr>
    <a:masterClrMapping/>
  </p:clrMapOvr>
</p:sld>
</file>

<file path=ppt/slides/slide1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LO7 · CONCEPT MAP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Key Concepts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149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pipe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Express a readable sequence of named DataFrame transformations.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Statistics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Describe centre, spread, relationships and unusual observations before drawing conclusions.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Change over time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Returns, rolling windows and drawdown expose behaviour that levels alone can hide.</a:t>
            </a:r>
          </a:p>
        </p:txBody>
      </p:sp>
    </p:spTree>
  </p:cSld>
  <p:transition spd="fast">
    <p:fade/>
  </p:transition>
  <p:clrMapOvr>
    <a:masterClrMapping/>
  </p:clrMapOvr>
</p:sld>
</file>

<file path=ppt/slides/slide1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150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Vectorised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Preferred for arithmetic and conditions supported directly by Pandas/NumPy.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apply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Useful for custom row logic; benchmark on large data.</a:t>
            </a:r>
          </a:p>
        </p:txBody>
      </p:sp>
    </p:spTree>
  </p:cSld>
  <p:transition spd="fast">
    <p:fade/>
  </p:transition>
  <p:clrMapOvr>
    <a:masterClrMapping/>
  </p:clrMapOvr>
</p:sld>
</file>

<file path=ppt/slides/slide1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readable pipe chain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125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125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19760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54508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297180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7180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68224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05688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440436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83108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83108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4152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591616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626364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669036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9036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777544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812292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4964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4964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6008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9634728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9982200" y="2103120"/>
            <a:ext cx="1511808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4089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4089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119360" y="3566160"/>
            <a:ext cx="1237488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FRAME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Descriptive statistics form a profile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Mean/median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Typical level and sensitivity to skew.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Std/range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Dispersion and volatility.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Quantiles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Distribution and tail thresholds.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Count/missing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Coverage and reliability.</a:t>
            </a:r>
          </a:p>
        </p:txBody>
      </p:sp>
    </p:spTree>
  </p:cSld>
  <p:transition spd="fast">
    <p:fade/>
  </p:transition>
  <p:clrMapOvr>
    <a:masterClrMapping/>
  </p:clrMapOvr>
</p:sld>
</file>

<file path=ppt/slides/slide1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COMPARISON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Covariance and correlation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5234940" cy="5303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Covariance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Direction and joint movement in scale-dependent units.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68212" y="1874519"/>
            <a:ext cx="5234940" cy="3977639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268212" y="1874519"/>
            <a:ext cx="5234940" cy="5303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5372" y="2011680"/>
            <a:ext cx="496062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Correlation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60820" y="2971800"/>
            <a:ext cx="4649724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Normalised association from -1 to +1; not causation.</a:t>
            </a:r>
          </a:p>
        </p:txBody>
      </p:sp>
    </p:spTree>
  </p:cSld>
  <p:transition spd="fast">
    <p:fade/>
  </p:transition>
  <p:clrMapOvr>
    <a:masterClrMapping/>
  </p:clrMapOvr>
</p:sld>
</file>

<file path=ppt/slides/slide1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PROCESS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windows reveal regime change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Choose window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Compute rolling metric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regimes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Investigate breaks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DECISION EVIDENCE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Evidence before recommendation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155</a:t>
            </a:r>
          </a:p>
        </p:txBody>
      </p:sp>
      <p:pic>
        <p:nvPicPr>
          <p:cNvPr id="10" name="Picture 9" descr="python-finance-evidence-review-v1-blend-137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5943600" cy="4315968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51460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78992" y="2084832"/>
            <a:ext cx="109728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43584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0B1F3A"/>
                </a:solidFill>
                <a:latin typeface="Arial"/>
              </a:rPr>
              <a:t>INVESTMENT RISK REVIEW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656832" y="178308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656832" y="1783080"/>
            <a:ext cx="73152" cy="987552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839712" y="1965960"/>
            <a:ext cx="384048" cy="38404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39712" y="203911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70064" y="191109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1F6FEB"/>
                </a:solidFill>
                <a:latin typeface="Arial"/>
              </a:rPr>
              <a:t>Reconcile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05672" y="185623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Totals and row counts agree with source data.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656832" y="288036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656832" y="2880360"/>
            <a:ext cx="73152" cy="987552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839712" y="3063240"/>
            <a:ext cx="384048" cy="38404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39712" y="313639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70064" y="300837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0FA98A"/>
                </a:solidFill>
                <a:latin typeface="Arial"/>
              </a:rPr>
              <a:t>Stress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295351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Results hold across boundaries and plausible scenarios.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656832" y="3977640"/>
            <a:ext cx="4846320" cy="987552"/>
          </a:xfrm>
          <a:prstGeom prst="roundRect">
            <a:avLst/>
          </a:prstGeom>
          <a:solidFill>
            <a:srgbClr val="F7F9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56832" y="3977640"/>
            <a:ext cx="73152" cy="987552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6839712" y="4160520"/>
            <a:ext cx="384048" cy="38404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839712" y="4233672"/>
            <a:ext cx="384048" cy="1554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70064" y="4105656"/>
            <a:ext cx="148132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50" b="1">
                <a:solidFill>
                  <a:srgbClr val="7C3AED"/>
                </a:solidFill>
                <a:latin typeface="Arial"/>
              </a:rPr>
              <a:t>Explain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805672" y="4050792"/>
            <a:ext cx="2176272" cy="859536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161B26"/>
                </a:solidFill>
                <a:latin typeface="Arial"/>
              </a:rPr>
              <a:t>A reviewer can trace the output back to data and assumptions.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656832" y="5111496"/>
            <a:ext cx="4846320" cy="987552"/>
          </a:xfrm>
          <a:prstGeom prst="roundRect">
            <a:avLst/>
          </a:prstGeom>
          <a:solidFill>
            <a:srgbClr val="EAF8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858000" y="5230368"/>
            <a:ext cx="4443984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58A55"/>
                </a:solidFill>
                <a:latin typeface="Arial"/>
              </a:rPr>
              <a:t>DECISION / CONTROL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858000" y="5495544"/>
            <a:ext cx="4443984" cy="530352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1">
                <a:solidFill>
                  <a:srgbClr val="161B26"/>
                </a:solidFill>
                <a:latin typeface="Arial"/>
              </a:rPr>
              <a:t>A recommendation is usable only after source totals reconcile, assumptions are stressed and material limitations are explained.</a:t>
            </a:r>
          </a:p>
        </p:txBody>
      </p:sp>
    </p:spTree>
  </p:cSld>
  <p:transition spd="fast">
    <p:fade/>
  </p:transition>
  <p:clrMapOvr>
    <a:masterClrMapping/>
  </p:clrMapOvr>
</p:sld>
</file>

<file path=ppt/slides/slide1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Pipe reads like the analytical story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result = (raw.pipe(clean_data)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.pipe(add_features)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.pipe(score_risk)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374135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81328" y="3374135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             .pipe(summarise))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21" name="Oval 20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4" name="Oval 23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7" name="Oval 26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30" name="Oval 29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WORKED EXAMPLE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Drawdown uses the running peak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6583680" cy="406908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084831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81328" y="2084831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wealth = (1 + returns).cumprod()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514600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81328" y="2514600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peak = wealth.cummax()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2944368"/>
            <a:ext cx="4114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1000" b="0">
                <a:solidFill>
                  <a:srgbClr val="0FA98A"/>
                </a:solidFill>
                <a:latin typeface="Consolas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81328" y="2944368"/>
            <a:ext cx="553212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0">
                <a:solidFill>
                  <a:srgbClr val="D6E7FF"/>
                </a:solidFill>
                <a:latin typeface="Consolas"/>
              </a:rPr>
              <a:t>drawdown = wealth / peak - 1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571231" y="1828800"/>
            <a:ext cx="393192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845552" y="2148840"/>
            <a:ext cx="33832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HOW TO READ IT</a:t>
            </a:r>
          </a:p>
        </p:txBody>
      </p:sp>
      <p:sp>
        <p:nvSpPr>
          <p:cNvPr id="19" name="Oval 18"/>
          <p:cNvSpPr/>
          <p:nvPr/>
        </p:nvSpPr>
        <p:spPr>
          <a:xfrm>
            <a:off x="7845552" y="2697480"/>
            <a:ext cx="365760" cy="36576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45552" y="2761488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66760" y="2670048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Inputs and assumptions are visible.</a:t>
            </a:r>
          </a:p>
        </p:txBody>
      </p:sp>
      <p:sp>
        <p:nvSpPr>
          <p:cNvPr id="22" name="Oval 21"/>
          <p:cNvSpPr/>
          <p:nvPr/>
        </p:nvSpPr>
        <p:spPr>
          <a:xfrm>
            <a:off x="7845552" y="3410712"/>
            <a:ext cx="365760" cy="36576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845552" y="3474720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66760" y="3383280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The calculation is separated from presentation.</a:t>
            </a:r>
          </a:p>
        </p:txBody>
      </p:sp>
      <p:sp>
        <p:nvSpPr>
          <p:cNvPr id="25" name="Oval 24"/>
          <p:cNvSpPr/>
          <p:nvPr/>
        </p:nvSpPr>
        <p:spPr>
          <a:xfrm>
            <a:off x="7845552" y="4123944"/>
            <a:ext cx="365760" cy="36576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845552" y="4187952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4096512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Boundary or missing-data behaviour is explicit.</a:t>
            </a:r>
          </a:p>
        </p:txBody>
      </p:sp>
      <p:sp>
        <p:nvSpPr>
          <p:cNvPr id="28" name="Oval 27"/>
          <p:cNvSpPr/>
          <p:nvPr/>
        </p:nvSpPr>
        <p:spPr>
          <a:xfrm>
            <a:off x="7845552" y="4837176"/>
            <a:ext cx="365760" cy="36576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845552" y="4901184"/>
            <a:ext cx="365760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4809744"/>
            <a:ext cx="26974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A reviewer can test the result independently.</a:t>
            </a:r>
          </a:p>
        </p:txBody>
      </p:sp>
    </p:spTree>
  </p:cSld>
  <p:transition spd="fast">
    <p:fade/>
  </p:transition>
  <p:clrMapOvr>
    <a:masterClrMapping/>
  </p:clrMapOvr>
</p:sld>
</file>

<file path=ppt/slides/slide1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07 · EDITABLE POWERPOINT CHART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Rolling volatility changes across regimes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158</a:t>
            </a:r>
          </a:p>
        </p:txBody>
      </p:sp>
      <p:graphicFrame>
        <p:nvGraphicFramePr>
          <p:cNvPr id="10" name="Chart 9"/>
          <p:cNvGraphicFramePr>
            <a:graphicFrameLocks noGrp="1"/>
          </p:cNvGraphicFramePr>
          <p:nvPr/>
        </p:nvGraphicFramePr>
        <p:xfrm>
          <a:off x="713232" y="1828800"/>
          <a:ext cx="763524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11" name="Rounded Rectangle 10"/>
          <p:cNvSpPr/>
          <p:nvPr/>
        </p:nvSpPr>
        <p:spPr>
          <a:xfrm>
            <a:off x="8641080" y="1828800"/>
            <a:ext cx="2862072" cy="41148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15400" y="2148840"/>
            <a:ext cx="23317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WHAT THE DATA SHOWS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915400" y="2788920"/>
            <a:ext cx="2331720" cy="201168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Risk is time-varying; a single full-period volatility figure can hide regime changes.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915400" y="5230368"/>
            <a:ext cx="2331720" cy="4114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5B6372"/>
                </a:solidFill>
                <a:latin typeface="Arial"/>
              </a:rPr>
              <a:t>Annualised volatility (%)</a:t>
            </a:r>
          </a:p>
        </p:txBody>
      </p:sp>
    </p:spTree>
  </p:cSld>
  <p:transition spd="fast">
    <p:fade/>
  </p:transition>
  <p:clrMapOvr>
    <a:masterClrMapping/>
  </p:clrMapOvr>
</p:sld>
</file>

<file path=ppt/slides/slide1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WHAT YOU WILL APPLY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Hands-On Labs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159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16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Lab 17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Capstone: Produce an Executive Finance Analytics Pack</a:t>
            </a:r>
          </a:p>
        </p:txBody>
      </p:sp>
    </p:spTree>
  </p:cSld>
  <p:transition spd="fast">
    <p:fade/>
  </p:transition>
  <p:clrMapOvr>
    <a:masterClrMapping/>
  </p:clrMapOvr>
</p:sld>
</file>

<file path=ppt/slides/slide1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160</a:t>
            </a:r>
          </a:p>
        </p:txBody>
      </p:sp>
      <p:pic>
        <p:nvPicPr>
          <p:cNvPr id="10" name="Picture 9" descr="python-finance-risk-pipeline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RISK PIPELINE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A credit-risk team wants the DataFrame transformations to read like an auditable sequence rather than one large notebook cell.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chain of named clean, enrich, score and summarise functions connected with pipe().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Make each transformation testable; reconcile row counts and risk bands after every stage.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Pandas, CSV, unittest  ·  Folder: labs/lab-15-*</a:t>
            </a:r>
          </a:p>
        </p:txBody>
      </p:sp>
    </p:spTree>
  </p:cSld>
  <p:transition spd="fast">
    <p:fade/>
  </p:transition>
  <p:clrMapOvr>
    <a:masterClrMapping/>
  </p:clrMapOvr>
</p:sld>
</file>

<file path=ppt/slides/slide1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15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Load raw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Clean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Enrich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Score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Summarise and test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Build a Clean-to-Risk Pipeline with pipe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stage can be tested alone, the raw DataFrame is unchanged, and the final risk-band counts reconcile to total rows.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949440" cy="4251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87552" y="2057400"/>
            <a:ext cx="63550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87552" y="2542032"/>
            <a:ext cx="6355080" cy="1417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A portfolio risk analyst must profile returns, compare bank-stock relationships and track changing volatility over time.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87552" y="4315968"/>
            <a:ext cx="6355080" cy="1298448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216152" y="4526280"/>
            <a:ext cx="5897880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16152" y="4892040"/>
            <a:ext cx="5897880" cy="5029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 statistics table, correlation matrix, rolling-volatility series and drawdown chart.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36992" y="1783080"/>
            <a:ext cx="3566160" cy="4251960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0" y="2057400"/>
            <a:ext cx="2971800" cy="29260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TOOLS &amp; EVIDENCE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2578608"/>
            <a:ext cx="297180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Pandas, NumPy, Matplotlib, CSV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0" y="3675887"/>
            <a:ext cx="29718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ALIGNMENT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0" y="4041648"/>
            <a:ext cx="2971800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FFFFFF"/>
                </a:solidFill>
                <a:latin typeface="Arial"/>
              </a:rPr>
              <a:t>LO7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29600" y="4919472"/>
            <a:ext cx="2971800" cy="6217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BFD4F7"/>
                </a:solidFill>
                <a:latin typeface="Arial"/>
              </a:rPr>
              <a:t>Folder: labs/lab-16-*</a:t>
            </a:r>
          </a:p>
        </p:txBody>
      </p:sp>
    </p:spTree>
  </p:cSld>
  <p:transition spd="fast">
    <p:fade/>
  </p:transition>
  <p:clrMapOvr>
    <a:masterClrMapping/>
  </p:clrMapOvr>
</p:sld>
</file>

<file path=ppt/slides/slide1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16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returns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distribution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Compare relationships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Track rolling risk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conventions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Analyse Statistics, Correlation and Rolling Risk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Correlation is symmetric with 1 on the diagonal, rolling volatility has the expected warm-up NaNs, and maximum drawdown is non-positive.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TOPIC 07 · HANDS-ON · LAB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166</a:t>
            </a:r>
          </a:p>
        </p:txBody>
      </p:sp>
      <p:pic>
        <p:nvPicPr>
          <p:cNvPr id="10" name="Picture 9" descr="python-finance-executive-pack-v1-blend-11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783080"/>
            <a:ext cx="4800600" cy="4279392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914400" y="1984248"/>
            <a:ext cx="2423160" cy="347472"/>
          </a:xfrm>
          <a:prstGeom prst="roundRect">
            <a:avLst/>
          </a:prstGeom>
          <a:solidFill>
            <a:srgbClr val="FFFFFF">
              <a:alpha val="88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060704" y="2084832"/>
            <a:ext cx="109728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4439" y="2066544"/>
            <a:ext cx="19659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1">
                <a:solidFill>
                  <a:srgbClr val="0B1F3A"/>
                </a:solidFill>
                <a:latin typeface="Arial"/>
              </a:rPr>
              <a:t>EXECUTIVE REVIEW CONTEXT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513832" y="1783080"/>
            <a:ext cx="5989320" cy="1298448"/>
          </a:xfrm>
          <a:prstGeom prst="roundRect">
            <a:avLst/>
          </a:prstGeom>
          <a:solidFill>
            <a:srgbClr val="FAFB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742432" y="1947672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6FEB"/>
                </a:solidFill>
                <a:latin typeface="Arial"/>
              </a:rPr>
              <a:t>FINANCE SCENARIO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742432" y="2267712"/>
            <a:ext cx="5532120" cy="658368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20" b="0">
                <a:solidFill>
                  <a:srgbClr val="161B26"/>
                </a:solidFill>
                <a:latin typeface="Arial"/>
              </a:rPr>
              <a:t>The CFO requests a concise, reproducible evidence pack combining data quality, portfolio exposure, returns, risk and recommendations.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513832" y="3264408"/>
            <a:ext cx="5989320" cy="1143000"/>
          </a:xfrm>
          <a:prstGeom prst="roundRect">
            <a:avLst/>
          </a:prstGeom>
          <a:solidFill>
            <a:srgbClr val="F4F7F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42432" y="3447288"/>
            <a:ext cx="5532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0FA98A"/>
                </a:solidFill>
                <a:latin typeface="Arial"/>
              </a:rPr>
              <a:t>YOU WILL PRODUCE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742432" y="3767328"/>
            <a:ext cx="5532120" cy="43891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61B26"/>
                </a:solidFill>
                <a:latin typeface="Arial"/>
              </a:rPr>
              <a:t>A self-contained HTML report, charts, curated CSVs, validation log and executive summary.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513832" y="4590288"/>
            <a:ext cx="5989320" cy="941832"/>
          </a:xfrm>
          <a:prstGeom prst="roundRect">
            <a:avLst/>
          </a:prstGeom>
          <a:solidFill>
            <a:srgbClr val="E9F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742432" y="4754880"/>
            <a:ext cx="9601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58A55"/>
                </a:solidFill>
                <a:latin typeface="Arial"/>
              </a:rPr>
              <a:t>CONTROL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84264" y="4672584"/>
            <a:ext cx="4572000" cy="512064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80" b="1">
                <a:solidFill>
                  <a:srgbClr val="161B26"/>
                </a:solidFill>
                <a:latin typeface="Arial"/>
              </a:rPr>
              <a:t>Trace every executive conclusion to supplied data, validated calculations and reproducible outputs.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513832" y="5715000"/>
            <a:ext cx="5989320" cy="347472"/>
          </a:xfrm>
          <a:prstGeom prst="round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696712" y="5806440"/>
            <a:ext cx="5623560" cy="14630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19" b="1">
                <a:solidFill>
                  <a:srgbClr val="FFFFFF"/>
                </a:solidFill>
                <a:latin typeface="Arial"/>
              </a:rPr>
              <a:t>Python, Pandas, Matplotlib, HTML  ·  Folder: labs/lab-17-*</a:t>
            </a:r>
          </a:p>
        </p:txBody>
      </p:sp>
    </p:spTree>
  </p:cSld>
  <p:transition spd="fast">
    <p:fade/>
  </p:transition>
  <p:clrMapOvr>
    <a:masterClrMapping/>
  </p:clrMapOvr>
</p:sld>
</file>

<file path=ppt/slides/slide1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LAB 17 · CONCEPT MAP (DETAILED PROCEDURE IN THE LEARNER GUIDE)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Analytical Workflow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167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Audit inputs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Calculate exposure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Analyse returns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Create visuals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Package and validate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58A55"/>
                </a:solidFill>
                <a:latin typeface="Arial"/>
              </a:rPr>
              <a:t>LAB 17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Capstone: Produce an Executive Finance Analytics Pack — Evidence &amp; Acceptance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168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28800"/>
            <a:ext cx="7315200" cy="4069080"/>
          </a:xfrm>
          <a:prstGeom prst="roundRect">
            <a:avLst/>
          </a:prstGeom>
          <a:solidFill>
            <a:srgbClr val="E9F8F0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2148840"/>
            <a:ext cx="672084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58A55"/>
                </a:solidFill>
                <a:latin typeface="Arial"/>
              </a:rPr>
              <a:t>ACCEPTANCE TEST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2788920"/>
            <a:ext cx="6720840" cy="2194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required files exist, totals reconcile, charts have labels, the HTML report opens locally, and validate_outputs.py prints CAPSTONE PASS.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02752" y="1828800"/>
            <a:ext cx="3200400" cy="406908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577072" y="2148840"/>
            <a:ext cx="265176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CAPTURE</a:t>
            </a:r>
          </a:p>
        </p:txBody>
      </p:sp>
      <p:sp>
        <p:nvSpPr>
          <p:cNvPr id="15" name="Oval 14"/>
          <p:cNvSpPr/>
          <p:nvPr/>
        </p:nvSpPr>
        <p:spPr>
          <a:xfrm>
            <a:off x="8577072" y="3218688"/>
            <a:ext cx="347472" cy="347472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77072" y="3282696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052560" y="3191256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Executed output</a:t>
            </a:r>
          </a:p>
        </p:txBody>
      </p:sp>
      <p:sp>
        <p:nvSpPr>
          <p:cNvPr id="18" name="Oval 17"/>
          <p:cNvSpPr/>
          <p:nvPr/>
        </p:nvSpPr>
        <p:spPr>
          <a:xfrm>
            <a:off x="8577072" y="3785615"/>
            <a:ext cx="347472" cy="347472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77072" y="3849624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52560" y="3758184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Validation result</a:t>
            </a:r>
          </a:p>
        </p:txBody>
      </p:sp>
      <p:sp>
        <p:nvSpPr>
          <p:cNvPr id="21" name="Oval 20"/>
          <p:cNvSpPr/>
          <p:nvPr/>
        </p:nvSpPr>
        <p:spPr>
          <a:xfrm>
            <a:off x="8577072" y="4352544"/>
            <a:ext cx="347472" cy="347472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577072" y="4416552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4325112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Chart or curated file</a:t>
            </a:r>
          </a:p>
        </p:txBody>
      </p:sp>
      <p:sp>
        <p:nvSpPr>
          <p:cNvPr id="24" name="Oval 23"/>
          <p:cNvSpPr/>
          <p:nvPr/>
        </p:nvSpPr>
        <p:spPr>
          <a:xfrm>
            <a:off x="8577072" y="4919472"/>
            <a:ext cx="347472" cy="347472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77072" y="4983480"/>
            <a:ext cx="347472" cy="16459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52560" y="4892040"/>
            <a:ext cx="1965960" cy="38404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161B26"/>
                </a:solidFill>
                <a:latin typeface="Arial"/>
              </a:rPr>
              <a:t>Short interpretation</a:t>
            </a:r>
          </a:p>
        </p:txBody>
      </p:sp>
    </p:spTree>
  </p:cSld>
  <p:transition spd="fast">
    <p:fade/>
  </p:transition>
  <p:clrMapOvr>
    <a:masterClrMapping/>
  </p:clrMapOvr>
</p:sld>
</file>

<file path=ppt/slides/slide1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Recap — Analyze Finance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169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Concept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Run a function across rows or columns when vectorised operations are not practical.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Method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apply is flexible, but not automatically fast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Application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Lab 15, Lab 16, Lab 17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Validate outputs and explain the finance meaning.</a:t>
            </a:r>
          </a:p>
        </p:txBody>
      </p:sp>
    </p:spTree>
  </p:cSld>
  <p:transition spd="fast">
    <p:fade/>
  </p:transition>
  <p:clrMapOvr>
    <a:masterClrMapping/>
  </p:clrMapOvr>
</p:sld>
</file>

<file path=ppt/slides/slide1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49808" y="2057400"/>
            <a:ext cx="109728" cy="1965960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78992" y="2039112"/>
            <a:ext cx="8778240" cy="3657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2487168"/>
            <a:ext cx="9784080" cy="128016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3600" b="1">
                <a:solidFill>
                  <a:srgbClr val="0B1F3A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913632"/>
            <a:ext cx="9418320" cy="6858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00" b="0">
                <a:solidFill>
                  <a:srgbClr val="5B6372"/>
                </a:solidFill>
                <a:latin typeface="Arial"/>
              </a:rPr>
              <a:t>From requirement to explainable finance analytics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170</a:t>
            </a:r>
          </a:p>
        </p:txBody>
      </p:sp>
    </p:spTree>
  </p:cSld>
  <p:transition spd="med">
    <p:push/>
  </p:transition>
  <p:clrMapOvr>
    <a:masterClrMapping/>
  </p:clrMapOvr>
</p:sld>
</file>

<file path=ppt/slides/slide1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What You Can Now Do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Translate finance business requirements into clear Python programming objectives and configure a reproducible development environment.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Use Python data types and operators to represent, calculate and present financial information accurately.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2896362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3124962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LO3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Organise finance logic with conditional statements, loops and comprehensions to solve repeatable analytical problems.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2896362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2896362"/>
            <a:ext cx="73152" cy="95783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3124962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3179826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3051810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3426714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Create reusable functions and lambda-based transformations for finance business use cases.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1323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13232" y="4055364"/>
            <a:ext cx="73152" cy="95783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3619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Import, inspect, filter, slice and clean finance data with Pandas Series and DataFrames.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22492" y="4055364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222492" y="4055364"/>
            <a:ext cx="73152" cy="957834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LO6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045452" y="4585716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Join, aggregate, test and visualise finance data using groupby, pivot tables and appropriate charts.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713232" y="5214366"/>
            <a:ext cx="5280660" cy="957834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13232" y="5214366"/>
            <a:ext cx="73152" cy="95783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914400" y="5442966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5497830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536192" y="5369814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LO7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1536192" y="5744718"/>
            <a:ext cx="4293108" cy="317754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Improve analytical code with apply and pipe, use descriptive statistics, and analyse changes in financial data over time.</a:t>
            </a:r>
          </a:p>
        </p:txBody>
      </p:sp>
    </p:spTree>
  </p:cSld>
  <p:transition spd="fast">
    <p:fade/>
  </p:transition>
  <p:clrMapOvr>
    <a:masterClrMapping/>
  </p:clrMapOvr>
</p:sld>
</file>

<file path=ppt/slides/slide1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0FA98A"/>
                </a:solidFill>
                <a:latin typeface="Arial"/>
              </a:rPr>
              <a:t>TRANSFER TO 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 Repeatable Standard for Your Next Project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172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Frame the decision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Profile the data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Build clear functions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Validate boundaries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0FA98A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Present evidence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COURSE PORTAL · LMS/TMS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Download Course Material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173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83080"/>
            <a:ext cx="6400800" cy="41605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83080"/>
            <a:ext cx="6400800" cy="438912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32688" y="1901952"/>
            <a:ext cx="146304" cy="146304"/>
          </a:xfrm>
          <a:prstGeom prst="ellipse">
            <a:avLst/>
          </a:prstGeom>
          <a:solidFill>
            <a:srgbClr val="D92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143000" y="1901952"/>
            <a:ext cx="146304" cy="146304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353312" y="1901952"/>
            <a:ext cx="146304" cy="146304"/>
          </a:xfrm>
          <a:prstGeom prst="ellipse">
            <a:avLst/>
          </a:prstGeom>
          <a:solidFill>
            <a:srgbClr val="158A5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664208" y="1883664"/>
            <a:ext cx="493776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00" b="0">
                <a:solidFill>
                  <a:srgbClr val="FFFFFF"/>
                </a:solidFill>
                <a:latin typeface="Arial"/>
              </a:rPr>
              <a:t>https://lms-tms.tertiaryinfotech.com/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87552" y="2514600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88720" y="2624328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1 · SIGN 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423160" y="2587752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Use the course invitation or trainer-provided credentials.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87552" y="3264408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188720" y="3374136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0FA98A"/>
                </a:solidFill>
                <a:latin typeface="Arial"/>
              </a:rPr>
              <a:t>2 · OPEN COURSEWARE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423160" y="3337560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Choose the current Python Programming for Finance course.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87552" y="4014215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88720" y="4123944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7C3AED"/>
                </a:solidFill>
                <a:latin typeface="Arial"/>
              </a:rPr>
              <a:t>3 · DOWNLOAD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087368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Save the slides, Learner Guide and lab folders locally.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87552" y="4764024"/>
            <a:ext cx="5806440" cy="58521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873752"/>
            <a:ext cx="123444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F59E0B"/>
                </a:solidFill>
                <a:latin typeface="Arial"/>
              </a:rPr>
              <a:t>4 ·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423160" y="4837176"/>
            <a:ext cx="4069080" cy="34747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>
                <a:solidFill>
                  <a:srgbClr val="161B26"/>
                </a:solidFill>
                <a:latin typeface="Arial"/>
              </a:rPr>
              <a:t>Open and submit the learner-facing papers only when directed.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424927" y="1783080"/>
            <a:ext cx="4078224" cy="416052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54112" y="2148840"/>
            <a:ext cx="342900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1F6FEB"/>
                </a:solidFill>
                <a:latin typeface="Arial"/>
              </a:rPr>
              <a:t>COURSE PACKAGE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754112" y="2761488"/>
            <a:ext cx="3337560" cy="20116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Visual course slides
• Detailed Learner Guide
• 17 self-contained lab folders
• Starter code and offline data
• Assessment papers on the LMS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754112" y="5230368"/>
            <a:ext cx="324612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1" u="sng">
                <a:solidFill>
                  <a:srgbClr val="1F6FEB"/>
                </a:solidFill>
                <a:latin typeface="Arial"/>
                <a:hlinkClick r:id="rId2"/>
              </a:rPr>
              <a:t>Open LMS/TMS</a:t>
            </a:r>
          </a:p>
        </p:txBody>
      </p:sp>
    </p:spTree>
  </p:cSld>
  <p:transition spd="fast">
    <p:fade/>
  </p:transition>
  <p:clrMapOvr>
    <a:masterClrMapping/>
  </p:clrMapOvr>
</p:sld>
</file>

<file path=ppt/slides/slide1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WRAP-UP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Reminder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174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874519"/>
            <a:ext cx="3425952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2097024" y="2267712"/>
            <a:ext cx="658368" cy="65836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97024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77824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WA · 60 min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6112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8 open-ended knowledge questions mapped to K1–K8.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95216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395216" y="1874519"/>
            <a:ext cx="3425952" cy="109728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5779008" y="2267712"/>
            <a:ext cx="658368" cy="658368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779008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59808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PP · 60 min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8096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5 practical tasks mapped to A1–A9 and completed individually.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77200" y="1874519"/>
            <a:ext cx="3425952" cy="3977639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8077200" y="1874519"/>
            <a:ext cx="3425952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460992" y="2267712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460992" y="2404872"/>
            <a:ext cx="658368" cy="2560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41792" y="3182112"/>
            <a:ext cx="3096768" cy="56692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60080" y="3886200"/>
            <a:ext cx="3060192" cy="1627632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Upload the two question papers on the LMS and sign the summary record.</a:t>
            </a:r>
          </a:p>
        </p:txBody>
      </p:sp>
    </p:spTree>
  </p:cSld>
  <p:transition spd="fast">
    <p:fade/>
  </p:transition>
  <p:clrMapOvr>
    <a:masterClrMapping/>
  </p:clrMapOvr>
</p:sld>
</file>

<file path=ppt/slides/slide1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7C3AED"/>
                </a:solidFill>
                <a:latin typeface="Arial"/>
              </a:rPr>
              <a:t>ON ASSESSMENT 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Assessment Flow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175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85800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298448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98448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TRAQOM assessment attendance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2569464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916936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3529584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529584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054096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Written Assessment (WA)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4800600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5148072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60720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0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85232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Practical Performance (PP)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31736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7379208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91856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991856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516368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Upload papers to LMS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262872" y="3817620"/>
            <a:ext cx="274320" cy="0"/>
          </a:xfrm>
          <a:prstGeom prst="line">
            <a:avLst/>
          </a:prstGeom>
          <a:ln w="29209">
            <a:solidFill>
              <a:srgbClr val="7C3AED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610344" y="2103120"/>
            <a:ext cx="1883664" cy="3429000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222992" y="2487168"/>
            <a:ext cx="658368" cy="65836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10222992" y="2624327"/>
            <a:ext cx="658368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9747504" y="3566160"/>
            <a:ext cx="1609344" cy="1051560"/>
          </a:xfrm>
          <a:prstGeom prst="rect">
            <a:avLst/>
          </a:prstGeom>
          <a:noFill/>
        </p:spPr>
        <p:txBody>
          <a:bodyPr wrap="square" anchor="ctr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161B26"/>
                </a:solidFill>
                <a:latin typeface="Arial"/>
              </a:rPr>
              <a:t>Sign summary record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22960" y="5715000"/>
            <a:ext cx="10515600" cy="384048"/>
          </a:xfrm>
          <a:prstGeom prst="roundRect">
            <a:avLst/>
          </a:prstGeom>
          <a:solidFill>
            <a:srgbClr val="EAF2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60120" y="5788152"/>
            <a:ext cx="10241280" cy="201168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1">
                <a:solidFill>
                  <a:srgbClr val="1F6FEB"/>
                </a:solidFill>
                <a:latin typeface="Arial"/>
              </a:rPr>
              <a:t>The static slide contains the full sequence; trainers may reveal stages progressively.</a:t>
            </a:r>
          </a:p>
        </p:txBody>
      </p:sp>
    </p:spTree>
  </p:cSld>
  <p:transition spd="fast">
    <p:fade/>
  </p:transition>
  <p:clrMapOvr>
    <a:masterClrMapping/>
  </p:clrMapOvr>
</p:sld>
</file>

<file path=ppt/slides/slide1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138988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13232" y="393192"/>
            <a:ext cx="1069848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1F6FEB"/>
                </a:solidFill>
                <a:latin typeface="Arial"/>
              </a:rPr>
              <a:t>TRAQOM · SSG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713232"/>
            <a:ext cx="10835640" cy="7315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2700" b="1">
                <a:solidFill>
                  <a:srgbClr val="161B26"/>
                </a:solidFill>
                <a:latin typeface="Arial"/>
              </a:rPr>
              <a:t>Digital Attendance (Mandatory)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1481328"/>
            <a:ext cx="10789920" cy="22860"/>
          </a:xfrm>
          <a:prstGeom prst="rect">
            <a:avLst/>
          </a:prstGeom>
          <a:solidFill>
            <a:srgbClr val="DCE3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473952"/>
            <a:ext cx="640080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Python Programming for Finance  ·  TGS-2026065049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51960" y="6473952"/>
            <a:ext cx="384048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©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201400" y="6473952"/>
            <a:ext cx="502920" cy="18288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r">
              <a:spcAft>
                <a:spcPts val="0"/>
              </a:spcAft>
            </a:pPr>
            <a:r>
              <a:rPr sz="850" b="0">
                <a:solidFill>
                  <a:srgbClr val="5B6372"/>
                </a:solidFill>
                <a:latin typeface="Arial"/>
              </a:rPr>
              <a:t>176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13232" y="1737360"/>
            <a:ext cx="73152" cy="2116836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14400" y="1965960"/>
            <a:ext cx="457200" cy="45720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53619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Assessment window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Scan the separate assessment attendance QR code.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22492" y="1737360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22492" y="1737360"/>
            <a:ext cx="73152" cy="2116836"/>
          </a:xfrm>
          <a:prstGeom prst="rect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23660" y="1965960"/>
            <a:ext cx="457200" cy="457200"/>
          </a:xfrm>
          <a:prstGeom prst="ellipse">
            <a:avLst/>
          </a:prstGeom>
          <a:solidFill>
            <a:srgbClr val="0FA98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23660" y="2020824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045452" y="1892808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Confirm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5452" y="2267712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Check that the submission was accepted.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323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13232" y="4055364"/>
            <a:ext cx="73152" cy="2116836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14400" y="4283964"/>
            <a:ext cx="457200" cy="45720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1440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3619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Then assess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53619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Begin only when instructed by the assessor.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222492" y="4055364"/>
            <a:ext cx="5280660" cy="2116836"/>
          </a:xfrm>
          <a:prstGeom prst="roundRect">
            <a:avLst/>
          </a:prstGeom>
          <a:solidFill>
            <a:srgbClr val="F4F7FB"/>
          </a:solidFill>
          <a:ln w="12700">
            <a:solidFill>
              <a:srgbClr val="DCE3E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222492" y="4055364"/>
            <a:ext cx="73152" cy="2116836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6423660" y="4283964"/>
            <a:ext cx="457200" cy="45720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23660" y="4338828"/>
            <a:ext cx="457200" cy="2743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5452" y="4210812"/>
            <a:ext cx="4293108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550" b="1">
                <a:solidFill>
                  <a:srgbClr val="161B26"/>
                </a:solidFill>
                <a:latin typeface="Arial"/>
              </a:rPr>
              <a:t>Evidence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5452" y="4585716"/>
            <a:ext cx="4293108" cy="1476756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l">
              <a:spcAft>
                <a:spcPts val="0"/>
              </a:spcAft>
            </a:pPr>
            <a:r>
              <a:rPr sz="1150" b="0">
                <a:solidFill>
                  <a:srgbClr val="5B6372"/>
                </a:solidFill>
                <a:latin typeface="Arial"/>
              </a:rPr>
              <a:t>Complete the Assessment Summary Record after both instruments.</a:t>
            </a:r>
          </a:p>
        </p:txBody>
      </p:sp>
    </p:spTree>
  </p:cSld>
  <p:transition spd="fast">
    <p:fade/>
  </p:transition>
  <p:clrMapOvr>
    <a:masterClrMapping/>
  </p:clrMapOvr>
</p:sld>
</file>

<file path=ppt/slides/slide1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143000"/>
            <a:ext cx="10698480" cy="3200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1400" b="1">
                <a:solidFill>
                  <a:srgbClr val="0FA98A"/>
                </a:solidFill>
                <a:latin typeface="Arial"/>
              </a:rPr>
              <a:t>WELL DONE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74519"/>
            <a:ext cx="10698480" cy="96012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Thank You!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43000" y="3200400"/>
            <a:ext cx="9875520" cy="100584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2200" b="0">
                <a:solidFill>
                  <a:srgbClr val="D6E7FF"/>
                </a:solidFill>
                <a:latin typeface="Arial"/>
              </a:rPr>
              <a:t>You can now build, test and explain Python analyses for realistic finance decisions.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172200"/>
            <a:ext cx="10698480" cy="228600"/>
          </a:xfrm>
          <a:prstGeom prst="rect">
            <a:avLst/>
          </a:prstGeom>
          <a:noFill/>
        </p:spPr>
        <p:txBody>
          <a:bodyPr wrap="square" anchor="t" lIns="36576" rIns="36576" tIns="36576" bIns="36576">
            <a:spAutoFit/>
          </a:bodyPr>
          <a:lstStyle/>
          <a:p>
            <a:pPr algn="ctr">
              <a:spcAft>
                <a:spcPts val="0"/>
              </a:spcAft>
            </a:pPr>
            <a:r>
              <a:rPr sz="950" b="0">
                <a:solidFill>
                  <a:srgbClr val="9FB4D2"/>
                </a:solidFill>
                <a:latin typeface="Arial"/>
              </a:rPr>
              <a:t>Python Programming for Finance · TGS-2026065049 · Version v1.4</a:t>
            </a:r>
          </a:p>
        </p:txBody>
      </p:sp>
    </p:spTree>
  </p:cSld>
  <p:transition spd="med">
    <p:push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