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capability coverage (%)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Acquire</c:v>
                </c:pt>
                <c:pt idx="1">
                  <c:v>Prepare</c:v>
                </c:pt>
                <c:pt idx="2">
                  <c:v>Analyse</c:v>
                </c:pt>
                <c:pt idx="3">
                  <c:v>Visualise</c:v>
                </c:pt>
                <c:pt idx="4">
                  <c:v>Automate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85</c:v>
                </c:pt>
                <c:pt idx="2">
                  <c:v>92</c:v>
                </c:pt>
                <c:pt idx="3">
                  <c:v>80</c:v>
                </c:pt>
                <c:pt idx="4">
                  <c:v>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savings balance (SGD '000)</c:v>
                </c:pt>
              </c:strCache>
            </c:strRef>
          </c:tx>
          <c:spPr>
            <a:solidFill>
              <a:srgbClr val="0FA98A"/>
            </a:solidFill>
            <a:ln>
              <a:solidFill>
                <a:srgbClr val="0FA98A"/>
              </a:solidFill>
            </a:ln>
          </c:spPr>
          <c:cat>
            <c:strRef>
              <c:f>Sheet1!$A$2:$A$5</c:f>
              <c:strCache>
                <c:ptCount val="4"/>
                <c:pt idx="0">
                  <c:v>Year 5</c:v>
                </c:pt>
                <c:pt idx="1">
                  <c:v>Year 10</c:v>
                </c:pt>
                <c:pt idx="2">
                  <c:v>Year 20</c:v>
                </c:pt>
                <c:pt idx="3">
                  <c:v>Year 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155</c:v>
                </c:pt>
                <c:pt idx="2">
                  <c:v>420</c:v>
                </c:pt>
                <c:pt idx="3">
                  <c:v>815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Recommended test cases by class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Sheet1!$A$2:$A$6</c:f>
              <c:strCache>
                <c:ptCount val="5"/>
                <c:pt idx="0">
                  <c:v>Typical</c:v>
                </c:pt>
                <c:pt idx="1">
                  <c:v>Below boundary</c:v>
                </c:pt>
                <c:pt idx="2">
                  <c:v>At boundary</c:v>
                </c:pt>
                <c:pt idx="3">
                  <c:v>Above boundary</c:v>
                </c:pt>
                <c:pt idx="4">
                  <c:v>Invalid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Duplicate calculation blocks found</c:v>
                </c:pt>
              </c:strCache>
            </c:strRef>
          </c:tx>
          <c:spPr>
            <a:solidFill>
              <a:srgbClr val="F59E0B"/>
            </a:solidFill>
            <a:ln>
              <a:solidFill>
                <a:srgbClr val="F59E0B"/>
              </a:solidFill>
            </a:ln>
          </c:spPr>
          <c:cat>
            <c:strRef>
              <c:f>Sheet1!$A$2:$A$5</c:f>
              <c:strCache>
                <c:ptCount val="4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 detected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Missing</c:v>
                </c:pt>
                <c:pt idx="1">
                  <c:v>Duplicate</c:v>
                </c:pt>
                <c:pt idx="2">
                  <c:v>Invalid range</c:v>
                </c:pt>
                <c:pt idx="3">
                  <c:v>Bad type</c:v>
                </c:pt>
                <c:pt idx="4">
                  <c:v>Unmatched key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4</c:v>
                </c:pt>
                <c:pt idx="2">
                  <c:v>3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monthly return (%)</c:v>
                </c:pt>
              </c:strCache>
            </c:strRef>
          </c:tx>
          <c:spPr>
            <a:solidFill>
              <a:srgbClr val="0FA98A"/>
            </a:solidFill>
            <a:ln>
              <a:solidFill>
                <a:srgbClr val="0FA98A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-2.4</c:v>
                </c:pt>
                <c:pt idx="2">
                  <c:v>3.1</c:v>
                </c:pt>
                <c:pt idx="3">
                  <c:v>0.6</c:v>
                </c:pt>
                <c:pt idx="4">
                  <c:v>-1.5</c:v>
                </c:pt>
                <c:pt idx="5">
                  <c:v>2.7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Annualised volatility (%)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14</c:v>
                </c:pt>
                <c:pt idx="2">
                  <c:v>21</c:v>
                </c:pt>
                <c:pt idx="3">
                  <c:v>28</c:v>
                </c:pt>
                <c:pt idx="4">
                  <c:v>18</c:v>
                </c:pt>
                <c:pt idx="5">
                  <c:v>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6065049-Python-Programming-for-Financ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ython-finance-cov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72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417320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539496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1F3A"/>
                </a:solidFill>
                <a:latin typeface="Arial"/>
              </a:rPr>
              <a:t>Python Programming for Finance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401568"/>
            <a:ext cx="1371600" cy="6400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53949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Course Code: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87952"/>
            <a:ext cx="5394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3 days · 24 hours · Hands-on financial analytics
Conducted by Tertiary Infotech Academy Pte Ltd ·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5303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v1.1 · 24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81344"/>
            <a:ext cx="53035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3 days · 24 hours · finance-focused Python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transition spd="med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AM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TRAQOM/SSG QR code at the start of each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PM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second attendance window when directed.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Take the separate digital attendance before the assessment.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Eligibility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At least 75% attendance and competency in all assessments are required.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4279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86000"/>
            <a:ext cx="1600200" cy="160020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67919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8745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60604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70662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TITLE / 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69748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52958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52044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251960"/>
            <a:ext cx="73152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5254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34340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07492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507492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7550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TRAINING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6636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58978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589788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59984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CONTACT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2472" y="59893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4279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8600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67919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8745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Founder and Managing Director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60604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70662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69748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PhD, MEng and MBA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52958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52044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25+ years in IT, AI and financial systems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251960"/>
            <a:ext cx="73152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5254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34340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Accredited data, AI and programming programmes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07492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507492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7550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6636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Applied analytics and accountable automation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Python, Excel or data analysis experience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Finance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report or decision you want to improve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What a useful result looks like after three days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Ask questions and share relevant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conversation at a time; disagree constructively.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only supplied or authorised finance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 from breaks and lunch on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trust output only because it looks plausible.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Help peers explain decisions, not copy answers.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00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64008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01952"/>
            <a:ext cx="146304" cy="146304"/>
          </a:xfrm>
          <a:prstGeom prst="ellipse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901952"/>
            <a:ext cx="146304" cy="146304"/>
          </a:xfrm>
          <a:prstGeom prst="ellipse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883664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514600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587752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course invitation or trainer-provided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64408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37413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2 · OPEN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current Python Programming for Finance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014215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2394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87368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Save the slides, Learner Guide and lab folders locally.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764024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4 ·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37176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and submit the learner-facing papers only when directed.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783080"/>
            <a:ext cx="4078224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148840"/>
            <a:ext cx="3429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761488"/>
            <a:ext cx="33375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Visual course slides
• Detailed Learner Guide
• 17 self-contained lab folders
• Starter code and offline data
• Assessment papers on the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303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u="sng">
                <a:solidFill>
                  <a:srgbClr val="1F6FEB"/>
                </a:solidFill>
                <a:latin typeface="Arial"/>
                <a:hlinkClick r:id="rId2"/>
              </a:rPr>
              <a:t>Open LMS/TMS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Lesson Plan — 3 Days, 24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28800"/>
            <a:ext cx="338328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Python foundations and finance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1–3
• Labs 1–6
• Python and finance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9:00 AM – 6:00 PM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19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19" y="1828800"/>
            <a:ext cx="338328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Reusable code and Pandas data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7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4–5
• Labs 7–11
• Functions and data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9:00 AM – 6:00 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6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6" y="1828800"/>
            <a:ext cx="338328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6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6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Aggregation, visualisation and financial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4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6–7
• Labs 12–17
• 2-hour final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6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9:00 AM – 6:00 PM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finance business requirements into clear Python programming objectives and configure a reproducible development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Python data types and operators to represent, calculate and present financial information accurately.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2896362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12496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Organise finance logic with conditional statements, loops and comprehensions to solve repeatable analytical problems.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2896362"/>
            <a:ext cx="73152" cy="95783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12496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functions and lambda-based transformations for finance business use cases.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055364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Import, inspect, filter, slice and clean finance data with Pandas Series and DataFrames.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055364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aggregate, test and visualise finance data using groupby, pivot tables and appropriate charts.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214366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214366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" y="544296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9783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36981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744718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Improve analytical code with apply and pipe, use descriptive statistics, and analyse changes in financial data over time.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papers independently.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approved course materials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Show calculations, code and requested outputs.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discussion, photos or recording.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Upload completed question papers on the LMS.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Summary Record.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short-answer questions covering K1–K8.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practical tasks covering A1–A9 and aligned to Labs 1, 13 and 14.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instruments are open book; demonstrate correct, explainable work.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 (WA)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Upload papers to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LEARNER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1078992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8"/>
            <a:ext cx="10378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u="sng">
                <a:solidFill>
                  <a:srgbClr val="FFFFFF"/>
                </a:solidFill>
                <a:latin typeface="Arial"/>
                <a:hlinkClick r:id="rId2"/>
              </a:rPr>
              <a:t>https://github.com/tertiarycourses/TGS-2026065049-Python-Programming-for-Finance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27248"/>
            <a:ext cx="1028700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Each lab folder is self-contained: README, PDF guide, starter.py, solution.py, tests and the data needed to run offline.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73168"/>
            <a:ext cx="102870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Detailed click-by-click procedures are in the Learner Guide and lab README—not in the concept-led slide deck.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TWO WAYS TO GET THE PUBLIC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Option A ·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 clone https://github.com/tertiarycourses/TGS-2026065049-Python-Programming-for-Finance.git
Keeps the folder structure and makes updates easy.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Option B ·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GitHub → Code → Download ZIP
Extract it locally before opening a lab folder.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Python, Data and Decisions in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controlled analytical workflow from requirement to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transition spd="med">
    <p:push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Where Python Creates Value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59893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use-cases-v1.png"/>
          <p:cNvPicPr>
            <a:picLocks noChangeAspect="1"/>
          </p:cNvPicPr>
          <p:nvPr/>
        </p:nvPicPr>
        <p:blipFill>
          <a:blip r:embed="rId2"/>
          <a:srcRect l="10762" r="10762"/>
          <a:stretch>
            <a:fillRect/>
          </a:stretch>
        </p:blipFill>
        <p:spPr>
          <a:xfrm>
            <a:off x="749808" y="1819656"/>
            <a:ext cx="5916168" cy="42428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32688" y="1984248"/>
            <a:ext cx="251460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066544"/>
            <a:ext cx="23317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PYTHON AT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31152" y="1783080"/>
            <a:ext cx="457200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31152" y="1783080"/>
            <a:ext cx="73152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1403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Market +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856232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Acquire prices; calculate value, weights, returns and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1152" y="2633472"/>
            <a:ext cx="457200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31152" y="2633472"/>
            <a:ext cx="73152" cy="74980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14032" y="2816352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889504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2761488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Credit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2706624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Encode affordability, segmentation and review thresholds.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2" y="3483864"/>
            <a:ext cx="457200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31152" y="3483864"/>
            <a:ext cx="73152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14032" y="366674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3739896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4" y="3611880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Reporting +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3557016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Automate tables and charts; reconcile inputs and exceptions.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31152" y="4334256"/>
            <a:ext cx="457200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31152" y="4334256"/>
            <a:ext cx="7315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14032" y="451713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2" y="4590288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4" y="4462272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Rapid prototyping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9992" y="4407408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Turn an analytical idea into tested, reviewable Python logic.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31152" y="5221224"/>
            <a:ext cx="4572000" cy="877824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5340096"/>
            <a:ext cx="416966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605272"/>
            <a:ext cx="416966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Python speeds up the analytical chain; validated data, reconciliations and accountable review make the result decision-ready.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END-TO-END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Controlled Finance Analytics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and assumptions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Code and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Analytical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 and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FROM NOTEBOOK TO RELIABLE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Exploration and Production Have Different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Ask questions quickly, inspect intermediate results and test assumptions in a notebook.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Operationalise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Move stable logic into named functions, tests, versioned files and repeatable runs.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CONTROL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Four Controls on Every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Did all expected rows, periods and instruments arrive?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Are types, ranges and categories defensible?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known examples and reconciliations match?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Can another person trace data, assumptions and formulas?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PRACTICAL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Makes a Realistic Finance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scenario states who needs the analysis and why.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data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Inputs, schema, units and missing-data assumptions are explicit.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result includes tests, reconciliations and interpretation.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Python foundations and finance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transition spd="med">
    <p:push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1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Introduction to Python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Business requirements · finance use cases · environment · first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transition spd="med">
    <p:push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LO1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Business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 the decision, users, data, output and acceptance criteria before writing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Finance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Python connects market data, calculations, visualisation, automation and AI in one ecosystem.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locked environment makes analytical results easier to review, repeat and audit.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analyst remains responsible for validating inputs, formulas, assumptions and outputs.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Why Python is used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Pandas and NumPy turn tables and time series into repeatable calculations.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remove manual copy-and-paste from recurring reports.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Decision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Charts, statistics and rules surface trends, risk and exceptions.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a business requirement to working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Clarify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inputs and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Design the 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a small 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Finance coding risk: plausible is not correct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Looks plausible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chart renders and totals appear reasonable.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Is 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Inputs reconcile, formulas are tested, edge cases are handled and results are explainable.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Choosing a Python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Google Colab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browser start; easy sharing; cloud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Local files, extensions, debugger and source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JupyterLab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Exploration with narrative, code and charts together.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uv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dependency management and reproducible environments.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anatomy of a finance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Imports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 or save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Acceptance criteria make results testable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Correctness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Known inputs produce expected outputs.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or invalid data is handled safely.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Output is clear, labelled and decision-ready.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requirement becomes a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requirement = {'ticker':'D05.SI', 'currency':'SGD'}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accept = 'five prices, 2 decimals, no crash on empty data'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Guard the empty-data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if prices.empty: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return {'status': 'NO DATA', 'rows': 0}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return {'status': 'OK', 'rows': len(prices)}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Python connects the finance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Python supports the full analytical chain; controls and validation sit across every 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capability coverage (%)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Set Up a Reproducible Finance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a Finance Requirement into an SGX Price Tool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01 · HANDS-ON ·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analytics team needs every learner to run the same package versions and verify the environment before analysing SGX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verified Python project with an environment check and dependency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 3, uv or venv, Pandas, Matplotlib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 / A1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labs/lab-01-*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01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environment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 packages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checks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script prints the Python, Pandas, NumPy and Matplotlib versions and ends with ENVIRONMENT READY.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01 · HANDS-ON · LAB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wealth desk wants a repeatable daily price summary for a small basket of Singapore-listed equities.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requirement canvas, acceptance tests and an offline-safe SGX price summary script.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CSV, optional yfinance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labs/lab-02-*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02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Clarify need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acceptance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Format report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exceptions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report prints five labelled SGX prices to two decimals, handles an invalid ticker without crashing, and all tests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 the decision, users, data, output and acceptance criteria before writing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Why Python is used in finance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1, Lab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Data Types and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Numbers · strings · lists · tuples · dictionaries · sets ·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transition spd="med">
    <p:push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LO2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counts and float or Decimal for measured financial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Clean labels, identifiers, dates and report text before matching or presenting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Collections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Lists, tuples, dictionaries and sets organise positions, identifiers and attributes.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Operators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Arithmetic, comparison and logical operators encode calculations and decisions.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Financial numbers: precision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float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Fast and common for analytics; binary representation can create tiny rounding artefacts.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Decimal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Base-10 arithmetic suited to currency rules where exact decimal behaviour matters.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Formatting values for decision-makers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Thousands separators and two decimal places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Percentage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Multiply ratio by 100 and label the 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Basis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basis point equals 0.01 percentage 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Large values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K, M or B only when the scale stays explicit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Collection choice is a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Ordered, mutable sequence of prices or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tuple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Fixed instrument identifier or multiple return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Ticker-to-price or named financial attributes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Unique holdings and portfolio overlap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Operator families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 - * / ** % for value, return, growth and allocation.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 rules such as ROE &gt; 10 or PE &lt;= 20.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Logical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conditions with and, or and not.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Safe calculation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denominator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Round for display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Retain full precision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 structures shape downstream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Row-oriented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list of dictionaries is readable and converts naturally to a DataFrame.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Parallel 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Easy to start, but alignment errors grow as fields are added.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Currency formatting keeps units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value = 12_487_650.75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print(f'SGD {value:,.2f}')  # SGD 12,487,650.75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dictionary makes attributes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holding = {'ticker':'D05.SI', 'shares':120, 'price':38.42}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value = holding['shares'] * holding['price']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Compounding separates contribution from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Compounding becomes dominant over longer horizons; assumptions should remain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savings balance (SGD '000)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Loan Amortisation Calculator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Model a Portfolio with Python Collections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HANDS-ON · LAB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relationship manager needs a transparent monthly-instalment calculation including the zero-interest staff-loan case.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loan calculator with monthly payment, total repayment and total interest.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math,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labs/lab-03-*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03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terms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Convert rate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payment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Handle zero rate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known case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For $500,000 at 2.6% over 25 years, payment is about $2,268.35; a 0% loan returns principal divided by months.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HANDS-ON · LAB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investment team needs a clean in-memory representation of holdings, identifiers, sector groups and prices.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portfolio report using list, tuple, dictionary and set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labs/lab-04-*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04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collections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values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Find overlap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weights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holding has a market value, portfolio weights sum to 100%, and the overlap set is reported without duplicates.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counts and float or Decimal for measured financial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Financial numbers: precision and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3, Lab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Problem Solving with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If/elif/else · loops · range · enumerate · zip · comprehensions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transition spd="med">
    <p:push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LO3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Branching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if/elif/else when a finance rule selects one outcome from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Iteration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loops to apply the same logic to positions, periods or scenarios.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Loop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break stops a search; continue skips an invalid record without ending the run.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Comprehensions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a transformed collection concisely when the rule remains readable.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Turn policy thresholds into explicit branches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metric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range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highest-priority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 band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 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Boundary conditions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Ambiguous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PE &lt; 15 is BUY and PE &gt; 25 is SELL—but what happens at 15 and 25?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Explicit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Define inclusive boundaries and test exactly below, at and above each threshold.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 loops over a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Take one holding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Look up price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market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Accumulate total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Store result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enumerate and zip improve clarity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enumerate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Adds a stable row number while iterating.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Pairs aligned sequences such as tickers and quantities.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break and continue are control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after the required match or a risk limit breach.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Skip a malformed record and log why it was excluded.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else on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only when the loop finishes without break.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Comprehension or loop?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Simple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Comprehension is concise and expressive.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Multiple branches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normal loop is easier to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Side effects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 loop; do not hide I/O in a comprehension.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 clarity and intermediate variables.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Thresholds need exact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if pe &lt; 15: label = 'BUY'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elif pe &lt;= 25: label = 'HOLD'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else: label = 'REVIEW'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readable comprehension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overweight = [h['ticker'] for h in holdings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 if h['weight'] &gt; 0.20]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Boundary tests concentrate around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More tests belong at decision boundaries than in routine middle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Recommended test cases by class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Encode PE and ROE Valuation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Loop Through a Portfolio and Build Comprehensions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03 · HANDS-ON · LAB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equity screen must classify securities consistently at defined PE and ROE thresholds.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boundary-tested BUY/HOLD/REVIEW valuation classifier.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labs/lab-05-*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05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Order conditions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rules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boundaries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exact-boundary tests pass and each recommendation includes the rule that produced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03 · HANDS-ON · LAB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analyst needs valuations for every valid position while malformed records are logged and excluded.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reconciled holdings table, exception log and concise list/dict comprehensions.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labs/lab-06-*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06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holding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Accumulate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invalid row is logged once, valid positions reconcile to the portfolio total, and comprehension results match the loop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if/elif/else when a finance rule selects one outcome from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Turn policy thresholds into explicit branches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5, Lab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Reusable code and Pandas 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transition spd="med">
    <p:push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DAY 2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2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Scripting with Functions and Lambda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Functions · parameters · return values · scope · lambda · map ·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transition spd="med">
    <p:push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LO4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Single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function should perform one understandable analytical responsibility.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Inputs and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Parameters make assumptions visible; return values keep computation separate from display.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Well-named functions reduce repeated formulas and inconsistent fixes.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Lambda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small anonymous functions for short transformations, not complex business rules.</a:t>
            </a:r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Designing a finance function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parameters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assumptions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a stable type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Document edge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Parameters communicate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Positional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Compact when the order is obvious.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Keyword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Clearer for rates, periods and optional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Useful only when a defensible standard exists.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Variable arguments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Appropriate for flexible aggregation, used carefully.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 calculations; print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result can be tested, reused, stored or charted.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Creates display output but is difficult to compose into another calculation.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Lambda, map and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 with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with map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with filter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Materialise result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count and totals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Readable functions beat clever one-liners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Named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for multi-step logic, validation, documentation and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Lambda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for one short expression close to where it is used.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Unit tests protect recurring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Typical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representative input produces the known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Zero, exactly-at-threshold and extreme values behave correctly.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Invalid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Bad inputs fail safely with a useful message.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 values keep logic reusable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def roe(net_income, avg_equity):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return None if avg_equity == 0 else net_income / avg_equity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Lambda stays small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high_dti = filter(lambda row: row['dti'] &gt; 0.45, applicants)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manual_review = list(high_dti)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Reusable functions reduce duplicate formulas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Centralising formulas reduces inconsistent fixes and review effort.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Duplicate calculation blocks found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Financial Ratio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Screen Customers with Lambda, Map and Filter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04 · HANDS-ON · LAB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reporting team calculates margin, ROE and ROA in several reports and needs one tested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ratios module returning named results with validation and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dataclasses,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labs/lab-07-*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07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inputs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ratios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names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edge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sample produces margin about 55.95%, ROE about 18.09% and ROA about 1.53%; tests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04 · HANDS-ON · LAB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retail bank wants to transform customer income into affordability ratios and filter applications for manual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readable transformation pipeline plus an equivalent named-function implementation.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labs/lab-08-*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08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applicants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income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risk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cases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implementations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Lambda and named-function pipelines select the same applicant IDs, and counts reconcile to the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function should perform one understandable analytical responsibility.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Designing a finance function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7, Lab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Import and Process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Pandas · Series · DataFrame · import · filter · slice ·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transition spd="med">
    <p:push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LO5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one-dimensional array, such as closing prices indexed by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table of rows and columns suitable for finance records and time series.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labels and conditions deliberately with loc, iloc and boolean masks.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Missing, duplicate, invalid and inconsistent values must be measured before analysis.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finance data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Standardise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Save curated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Series and DataFrame mental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named measure plus an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DataFrame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Aligned Series sharing a row index.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defensively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Specify dates, dtypes and missing-value tokens where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the intended sheet and confirm header rows.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Handle empty responses, rate limits and changing fields.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loc and iloc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by label or boolean condition; endpoints are label-inclusive.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iloc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by integer position; upper bound is excluded like normal slicing.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Missing data is a business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 when incomplete rows cannot support the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Fixed 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only when zero or another constant has business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Forward 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Carries the last observed value; risky across long gaps.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Impute/model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Requires assumptions that must be documented and tested.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Data-quality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Count rows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uniqueness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missingness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ranges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 exclusions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Inspect before transforming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df = pd.read_csv('prices.csv', parse_dates=['Date'])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print(df.shape, df.dtypes, df.isna().sum())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Label selection states the business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banks = portfolio.loc[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(portfolio['Sector'] == 'Bank') &amp; (portfolio['Value'] &gt; 100_000)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data audit makes defects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Profiling defects before cleaning creates a defensible reconciliation.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Exceptions detected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 and Clean a Finance DataFrame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Filter and Slice Finance Data Safely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Finance Data-Quality Audit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treasury extract contains duplicated dates, missing prices and inconsistent date/value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curated price DataFrame and a written data-quality reconciliation.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labs/lab-09-*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09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Standardise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defects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and save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curated file has unique sorted dates, numeric prices, no missing Close values, and a reconciliation from raw to clean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manager asks for bank-sector positions above a materiality threshold and a date-windowed price series.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filtered positions file and labelled versus positional slice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labs/lab-10-*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10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population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mask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labels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positions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rows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filter returns only qualifying bank positions; loc and iloc row counts match their documented boundary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480060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data-audit-v1.png"/>
          <p:cNvPicPr>
            <a:picLocks noChangeAspect="1"/>
          </p:cNvPicPr>
          <p:nvPr/>
        </p:nvPicPr>
        <p:blipFill>
          <a:blip r:embed="rId2"/>
          <a:srcRect l="18373" r="18373"/>
          <a:stretch>
            <a:fillRect/>
          </a:stretch>
        </p:blipFill>
        <p:spPr>
          <a:xfrm>
            <a:off x="749808" y="1819656"/>
            <a:ext cx="4727448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66544"/>
            <a:ext cx="22402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REAL-WORLD AUDIT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783080"/>
            <a:ext cx="5760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947672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53035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credit portfolio extract must pass completeness, uniqueness, range and reconciliation controls before modelling.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3264408"/>
            <a:ext cx="576072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3447288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767328"/>
            <a:ext cx="53035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reusable audit function and exception report for loan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4590288"/>
            <a:ext cx="5760720" cy="941832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4672584"/>
            <a:ext cx="43434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Fail the run when row counts, unique IDs, allowed ranges or reconciled totals do not meet the agreed controls.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5715000"/>
            <a:ext cx="57607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5806440"/>
            <a:ext cx="5394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CSV, JSON  ·  Folder: labs/lab-11-*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11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controls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completeness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validity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exceptions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audit identifies every planted defect, produces machine-readable counts and leaves the raw file unchanged.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one-dimensional array, such as closing prices indexed by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finance data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9, Lab 10, Lab 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Aggregation, visualisation and 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transition spd="med">
    <p:push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3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Aggregate and Visualize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concat · merge · groupby · pivot table · returns ·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transition spd="med">
    <p:push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LO6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stacks compatible data; merge joins tables using explicit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groupby splits records, applies calculations and combines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Pivot tables summarise a measure across two or more dimensions.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Visualise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Choose a chart that matches the analytical question and label units clearly.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concat and merge solve different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concat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Append periods or place aligned series side by side.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Join facts and reference data by a validated key.</a:t>
            </a:r>
          </a:p>
        </p:txBody>
      </p:sp>
    </p:spTree>
  </p:cSld>
  <p:transition spd="fast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Validate every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join type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with indicator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row counts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unmatched keys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split-apply-combine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Split by group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summary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Rename columns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Pivot tables answer cross-dimensional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Rows, such as sector.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Categories, such as risk band.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Measure, such as exposure.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aggfunc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How duplicates are summarised.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Choose the chart for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Trend or comparison through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Compare categories.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Scatter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Relationship between two measures.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Histogram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Distribution and unusual observations.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chart is an analytical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date range, currency, population and data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honest axes and visible units.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what changed, why it matters and what to check next.</a:t>
            </a:r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Validate the merge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merged = apps.merge(sectors, on='Sector_Code',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       how='left', validate='many_to_one', indicator=True)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Returns turn price levels into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prices['Daily_Return'] = prices['Close'].pct_change()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vol = prices['Daily_Return'].std() * (252 ** 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Returns reveal risk hidden by price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smooth price path can still contain volatile returns and tail observations.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monthly return (%)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Group and Pivot a Loan Portfolio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Visualize Daily Returns and Distribution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Moving-Average Technical Analysis</a:t>
            </a:r>
          </a:p>
        </p:txBody>
      </p:sp>
    </p:spTree>
  </p:cSld>
  <p:transition spd="fast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risk team needs exposure and approval metrics by sector, region and risk band from separate application and reference tables.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validated merge, groupby summary and pivot table exported to CSV.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labs/lab-12-*</a:t>
            </a:r>
          </a:p>
        </p:txBody>
      </p:sp>
    </p:spTree>
  </p:cSld>
  <p:transition spd="fast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12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explicitly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matches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Pivot and reconcile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unexpected many-to-many join occurs, unmatched keys are reported, and summary exposure totals equal the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investment committee wants to understand daily price changes and the distribution of returns for DBS.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return series, line chart and histogram with labelled analytical takeaways.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Matplotlib,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LO6 / A4 / A5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labs/lab-13-*</a:t>
            </a:r>
          </a:p>
        </p:txBody>
      </p:sp>
    </p:spTree>
  </p:cSld>
  <p:transition spd="fast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13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prices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NaN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time series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distribution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returns.csv has one fewer non-null row than prices; charts render; summary statistics match Pandas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quantitative analyst needs an OHLC view and 10/50-day moving averages with objectively detected crossover 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offline-safe technical-analysis report with OHLC, moving averages and crossover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Matplotlib, optional yfinance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LO6 / A2–A3 / A6–A9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labs/lab-14-*</a:t>
            </a:r>
          </a:p>
        </p:txBody>
      </p:sp>
    </p:spTree>
  </p:cSld>
  <p:transition spd="fast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14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 OHLC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averages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 crossover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output contains OHLC rows, MA10/MA50 values, at least one crossover date, and a labelled chart; the offline file always 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stacks compatible data; merge joins tables using explicit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and merge solve different problems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12, Lab 13, Lab 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Analyze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apply · pipe · statistics · correlation · rolling analysis · change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transition spd="med">
    <p:push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LO7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function across rows or columns when vectorised operations are not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Express a readable sequence of named DataFrame transformations.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Statistics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Describe centre, spread, relationships and unusual observations before drawing conclusions.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Change over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Returns, rolling windows and drawdown expose behaviour that levels alone can hide.</a:t>
            </a:r>
          </a:p>
        </p:txBody>
      </p:sp>
    </p:spTree>
  </p:cSld>
  <p:transition spd="fast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apply is flexible, but not automatically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Vectorised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Preferred for arithmetic and conditions supported directly by Pandas/NumPy.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Useful for custom row logic; benchmark on large data.</a:t>
            </a:r>
          </a:p>
        </p:txBody>
      </p:sp>
    </p:spTree>
  </p:cSld>
  <p:transition spd="fast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readable pipe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summarise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Descriptive statistics form a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Mean/median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Typical level and sensitivity to skew.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Std/range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Dispersion and volatility.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Quantiles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Distribution and tail thresholds.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Count/missing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Coverage and reliability.</a:t>
            </a:r>
          </a:p>
        </p:txBody>
      </p:sp>
    </p:spTree>
  </p:cSld>
  <p:transition spd="fast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Covariance and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Direction and joint movement in scale-dependent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Normalised association from -1 to +1; not causation.</a:t>
            </a:r>
          </a:p>
        </p:txBody>
      </p:sp>
    </p:spTree>
  </p:cSld>
  <p:transition spd="fast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Rolling windows reveal regime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window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rolling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regimes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Investigate breaks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DECISION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before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59893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evidence-review-v1.png"/>
          <p:cNvPicPr>
            <a:picLocks noChangeAspect="1"/>
          </p:cNvPicPr>
          <p:nvPr/>
        </p:nvPicPr>
        <p:blipFill>
          <a:blip r:embed="rId2"/>
          <a:srcRect l="12827" r="12827"/>
          <a:stretch>
            <a:fillRect/>
          </a:stretch>
        </p:blipFill>
        <p:spPr>
          <a:xfrm>
            <a:off x="749808" y="1819656"/>
            <a:ext cx="5916168" cy="42428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32688" y="1984248"/>
            <a:ext cx="251460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066544"/>
            <a:ext cx="23317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INVESTMENT RISK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31152" y="1783080"/>
            <a:ext cx="4572000" cy="987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31152" y="1783080"/>
            <a:ext cx="73152" cy="9875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1403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Reconcile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85623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Totals and row counts agree with source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1152" y="2880360"/>
            <a:ext cx="4572000" cy="987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31152" y="2880360"/>
            <a:ext cx="73152" cy="9875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14032" y="3063240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313639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300837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Stress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295351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Results hold across boundaries and plausible scenarios.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2" y="3977640"/>
            <a:ext cx="4572000" cy="987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31152" y="397764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14032" y="41605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423367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4" y="410565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405079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 reviewer can trace the output back to data and assumptions.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31152" y="5111496"/>
            <a:ext cx="4572000" cy="987552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5230368"/>
            <a:ext cx="416966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495544"/>
            <a:ext cx="416966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 recommendation is usable only after source totals reconcile, assumptions are stressed and material limitations are explained.</a:t>
            </a:r>
          </a:p>
        </p:txBody>
      </p:sp>
    </p:spTree>
  </p:cSld>
  <p:transition spd="fast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Pipe reads like the analytical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result = (raw.pipe(clean_data)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.pipe(add_features)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.pipe(score_risk)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74135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74135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.pipe(summarise))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21" name="Oval 20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4" name="Oval 23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30" name="Oval 29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Drawdown uses the running 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wealth = (1 + returns).cumprod()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peak = wealth.cummax()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drawdown = wealth / peak - 1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Rolling volatility changes across regimes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Risk is time-varying; a single full-period volatility figure can hide regime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Annualised volatility (%)</a:t>
            </a:r>
          </a:p>
        </p:txBody>
      </p:sp>
    </p:spTree>
  </p:cSld>
  <p:transition spd="fast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Clean-to-Risk Pipeline with pipe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Analyse Statistics, Correlation and Rolling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Capstone: Produce an Executive Finance Analytics Pack</a:t>
            </a:r>
          </a:p>
        </p:txBody>
      </p:sp>
    </p:spTree>
  </p:cSld>
  <p:transition spd="fast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credit-risk team wants the DataFrame transformations to read like an auditable sequence rather than one large notebook cell.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chain of named clean, enrich, score and summarise functions connected with pipe().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labs/lab-15-*</a:t>
            </a:r>
          </a:p>
        </p:txBody>
      </p:sp>
    </p:spTree>
  </p:cSld>
  <p:transition spd="fast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15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raw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Summarise and 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stage can be tested alone, the raw DataFrame is unchanged, and the final risk-band counts reconcile to total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risk analyst must profile returns, compare bank-stock relationships and track changing volatility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statistics table, correlation matrix, rolling-volatility series and drawdown chart.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NumPy, Matplotlib,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labs/lab-16-*</a:t>
            </a:r>
          </a:p>
        </p:txBody>
      </p:sp>
    </p:spTree>
  </p:cSld>
  <p:transition spd="fast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16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distribution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relationships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Track rolling risk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conventions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Correlation is symmetric with 1 on the diagonal, rolling volatility has the expected warm-up NaNs, and maximum drawdown is non-positive.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CFO requests a concise, reproducible evidence pack combining data quality, portfolio exposure, returns, risk and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self-contained HTML report, charts, curated CSVs, validation log and executive summary.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Pandas, Matplotlib, 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LO1–LO7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labs/lab-17-*</a:t>
            </a:r>
          </a:p>
        </p:txBody>
      </p:sp>
    </p:spTree>
  </p:cSld>
  <p:transition spd="fast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17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inputs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exposure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Analyse returns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visuals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Package and validate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required files exist, totals reconcile, charts have labels, the HTML report opens locally, and validate_outputs.py prints CAPSTONE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function across rows or columns when vectorised operations are not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apply is flexible, but not automatically fast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15, Lab 16, Lab 17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From requirement to explainable finance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transition spd="med">
    <p:push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finance business requirements into clear Python programming objectives and configure a reproducible development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Python data types and operators to represent, calculate and present financial information accurately.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2896362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12496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Organise finance logic with conditional statements, loops and comprehensions to solve repeatable analytical problems.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2896362"/>
            <a:ext cx="73152" cy="95783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12496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functions and lambda-based transformations for finance business use cases.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055364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Import, inspect, filter, slice and clean finance data with Pandas Series and DataFrames.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055364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aggregate, test and visualise finance data using groupby, pivot tables and appropriate charts.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214366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214366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" y="544296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9783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36981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744718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Improve analytical code with apply and pipe, use descriptive statistics, and analyse changes in financial data over time.</a:t>
            </a:r>
          </a:p>
        </p:txBody>
      </p:sp>
    </p:spTree>
  </p:cSld>
  <p:transition spd="fast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TRANSFER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Repeatable Standard for Your Next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the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clear functions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boundaries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00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64008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01952"/>
            <a:ext cx="146304" cy="146304"/>
          </a:xfrm>
          <a:prstGeom prst="ellipse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901952"/>
            <a:ext cx="146304" cy="146304"/>
          </a:xfrm>
          <a:prstGeom prst="ellipse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883664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514600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587752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course invitation or trainer-provided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64408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37413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2 · OPEN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current Python Programming for Finance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014215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2394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87368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Save the slides, Learner Guide and lab folders locally.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764024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4 ·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37176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and submit the learner-facing papers only when directed.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783080"/>
            <a:ext cx="4078224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148840"/>
            <a:ext cx="3429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761488"/>
            <a:ext cx="33375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Visual course slides
• Detailed Learner Guide
• 17 self-contained lab folders
• Starter code and offline data
• Assessment papers on the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303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u="sng">
                <a:solidFill>
                  <a:srgbClr val="1F6FEB"/>
                </a:solidFill>
                <a:latin typeface="Arial"/>
                <a:hlinkClick r:id="rId2"/>
              </a:rPr>
              <a:t>Open LMS/TMS</a:t>
            </a:r>
          </a:p>
        </p:txBody>
      </p:sp>
    </p:spTree>
  </p:cSld>
  <p:transition spd="fast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knowledge questions mapped to K1–K8.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practical tasks mapped to A1–A9 and completed individually.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the two question papers on the LMS and sign the summary record.</a:t>
            </a:r>
          </a:p>
        </p:txBody>
      </p:sp>
    </p:spTree>
  </p:cSld>
  <p:transition spd="fast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 (WA)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Upload papers to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separate assessment attendance QR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that the submission was accepted.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Then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Begin only when instructed by the assessor.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Summary Record after both instruments.</a:t>
            </a:r>
          </a:p>
        </p:txBody>
      </p:sp>
    </p:spTree>
  </p:cSld>
  <p:transition spd="fast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A98A"/>
                </a:solidFill>
                <a:latin typeface="Arial"/>
              </a:rPr>
              <a:t>WELL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987552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D6E7FF"/>
                </a:solidFill>
                <a:latin typeface="Arial"/>
              </a:rPr>
              <a:t>You can now build, test and explain Python analyses for realistic finance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FB4D2"/>
                </a:solidFill>
                <a:latin typeface="Arial"/>
              </a:rPr>
              <a:t>Python Programming for Finance · TGS-2026065049 · Version v1.1</a:t>
            </a:r>
          </a:p>
        </p:txBody>
      </p:sp>
    </p:spTree>
  </p:cSld>
  <p:transition spd="med">
    <p:pus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